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659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I'm Prakruthi B R, Reg No 2411021240038. Today I'll present the E-Commerce Business Analytics Dashboard I built for ShopSphere Online in Power BI, using the Brazilian e-commerce Olist dataset — about 96 thousand orders and customers.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next few minutes I'll cover the business problem, how I prepared and modeled the data, walk through all three dashboard pages, and close with insights, recommendations, and a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ShopSphere's goal was to understand purchasing behavior, product performance, and customer engagement to grow revenue. They gave me 10 specific business questions — everything from overall revenue to what drives satisfaction — and every visual I show you maps directly to one of these. For scale: 96 thousand orders, 96 thousand customers, 71 categories, 13.59 million in revenue.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chart could be built, the raw data needed real work. I imported nine separate files, fixed broken date formats, translated category names into English, and solved a real problem — the location file had over a million duplicate rows for repeated zip codes, so I condensed it to one clean row per zip code. The result is a tidy, trustworthy dataset.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screenshot, then trace the lines.] This is my actual Power BI model view. I connected all nine tables into a star schema — Order Items sits at the center as the fact table, holding one row per product sold. Around it: Customers, Orders, Products, Sellers, Payments, Reviews, Geolocation, and a Date table. Each line is a relationship — it lets one slicer, like picking a state, instantly filter every chart on the dashboard at once.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top of that model, I wrote the DAX formulas — called measures — that calculate every number you'll see. Total Revenue is a simple sum, Average Order Value divides revenue by order count, and some are more complex — Repeat Customer Percentage, for example, needed extra logic because of how customer IDs are structured in this dataset. These eight measures power the entire dashboard.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Overview page — the executive summary. [Point to the cards.] These answer question one: 13.59 million in revenue, 96 thousand orders, averaging 141 per order. [Point to the line chart.] This monthly trend answers question four — steady most months, but a sharp dip in September worth flagging. [Point to the donut.] Payment methods are almost evenly split — no single method dominates. [Point to the map.] And this map answers question six — revenue is concentrated in southeastern Brazil.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two drills into products. [Point to the bar chart.] Answers question two — Health &amp; Beauty, Watches &amp; Gifts, and Bed &amp; Bath lead revenue. [Point to the treemap.] Same story visually — bigger blocks mean bigger contribution. [Point to the scatter chart — slow down here.] This is the most analytical chart here. It plots review score against revenue — any category in the bottom-left, low score and low revenue, is flagged as needing attention. That answers question eight. [Point to the table.] And this backs it up with exact numbers.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dashboard page. [Point to the table.] Answers question three — customers ranked by lifetime revenue. [Point to the column chart.] This is key — it compares delivery timing against review score. Orders arrive about 13 days early on average, and that links to stronger reviews. That's how I answered question nine, what drives satisfaction. [Point to the stacked bar.] Credit card dominates across almost every installment tier.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this together into six insights — green checkmarks are strengths, amber marks are watch items. Revenue is strong and broad-based, early delivery clearly drives satisfaction, and the Southeast is our core market — those are working well. On the watch side: we lean on just three categories, there's an unexplained September dip, and a specific set of categories combine low revenue with low ratings. Those three are exactly what my recommendations target.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quick recap — here are all 10 business questions the client asked, answered in one place, from overall revenue right through to recommendations. [Move through this fast — gesture across it rather than reading every line, since it stands on its own.]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answers question 10. Five concrete recommendations: double down on the categories already proven to work, dig into the September revenue dip before it repeats, protect the delivery performance that's driving good reviews, audit the categories flagged as underperforming, and keep investing in the Southeast while testing growth in other regions.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 this project took nine raw, messy files and turned them into one connected Power BI dashboard, built around three focused pages, that directly answers all ten business questions ShopSphere asked and closes with five concrete recommendations. But the bigger picture matters more than the numbers alone: this dashboard gives the business a way to catch problems early, like the September dip, double down on what's already working, like the top categories and delivery speed, and make faster decisions backed by evidence instead of guesswork going forward.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your time. That concludes my walkthrough of the ShopSphere E-Commerce Analytics Dashboard — happy to take any questions on the data model, the DAX measures, or the insights.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1656"/>
        </a:solidFill>
        <a:effectLst/>
      </p:bgPr>
    </p:bg>
    <p:spTree>
      <p:nvGrpSpPr>
        <p:cNvPr id="1" name=""/>
        <p:cNvGrpSpPr/>
        <p:nvPr/>
      </p:nvGrpSpPr>
      <p:grpSpPr>
        <a:xfrm>
          <a:off x="0" y="0"/>
          <a:ext cx="0" cy="0"/>
          <a:chOff x="0" y="0"/>
          <a:chExt cx="0" cy="0"/>
        </a:xfrm>
      </p:grpSpPr>
      <p:sp>
        <p:nvSpPr>
          <p:cNvPr id="4" name="Text 2"/>
          <p:cNvSpPr/>
          <p:nvPr/>
        </p:nvSpPr>
        <p:spPr>
          <a:xfrm>
            <a:off x="822960" y="1234440"/>
            <a:ext cx="9144000" cy="320040"/>
          </a:xfrm>
          <a:prstGeom prst="rect">
            <a:avLst/>
          </a:prstGeom>
          <a:noFill/>
          <a:ln/>
        </p:spPr>
        <p:txBody>
          <a:bodyPr wrap="square" rtlCol="0" anchor="ctr"/>
          <a:lstStyle/>
          <a:p>
            <a:pPr marL="0" indent="0">
              <a:buNone/>
            </a:pPr>
            <a:r>
              <a:rPr lang="en-US" sz="1300" b="1" kern="0" spc="200" dirty="0">
                <a:solidFill>
                  <a:srgbClr val="F0A93A"/>
                </a:solidFill>
                <a:latin typeface="Calibri" pitchFamily="34" charset="0"/>
                <a:ea typeface="Calibri" pitchFamily="34" charset="-122"/>
                <a:cs typeface="Calibri" pitchFamily="34" charset="-120"/>
              </a:rPr>
              <a:t>SHOPSPHERE ONLINE  •  BUSINESS ANALYTICS PROJECT</a:t>
            </a:r>
            <a:endParaRPr lang="en-US" sz="1300" dirty="0"/>
          </a:p>
        </p:txBody>
      </p:sp>
      <p:sp>
        <p:nvSpPr>
          <p:cNvPr id="5" name="Text 3"/>
          <p:cNvSpPr/>
          <p:nvPr/>
        </p:nvSpPr>
        <p:spPr>
          <a:xfrm>
            <a:off x="777240" y="1737360"/>
            <a:ext cx="9875520" cy="1920240"/>
          </a:xfrm>
          <a:prstGeom prst="rect">
            <a:avLst/>
          </a:prstGeom>
          <a:noFill/>
          <a:ln/>
        </p:spPr>
        <p:txBody>
          <a:bodyPr wrap="square" rtlCol="0" anchor="ctr"/>
          <a:lstStyle/>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E-Commerce Business</a:t>
            </a:r>
            <a:endParaRPr lang="en-US" sz="4600" dirty="0"/>
          </a:p>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Analytics Dashboard</a:t>
            </a:r>
            <a:endParaRPr lang="en-US" sz="4600" dirty="0"/>
          </a:p>
        </p:txBody>
      </p:sp>
      <p:sp>
        <p:nvSpPr>
          <p:cNvPr id="6" name="Text 4"/>
          <p:cNvSpPr/>
          <p:nvPr/>
        </p:nvSpPr>
        <p:spPr>
          <a:xfrm>
            <a:off x="822960" y="3703320"/>
            <a:ext cx="8961120" cy="640080"/>
          </a:xfrm>
          <a:prstGeom prst="rect">
            <a:avLst/>
          </a:prstGeom>
          <a:noFill/>
          <a:ln/>
        </p:spPr>
        <p:txBody>
          <a:bodyPr wrap="square" rtlCol="0" anchor="ctr"/>
          <a:lstStyle/>
          <a:p>
            <a:pPr marL="0" indent="0">
              <a:lnSpc>
                <a:spcPts val="2200"/>
              </a:lnSpc>
              <a:buNone/>
            </a:pPr>
            <a:r>
              <a:rPr lang="en-US" sz="1500" dirty="0">
                <a:solidFill>
                  <a:srgbClr val="D9C7E8"/>
                </a:solidFill>
                <a:latin typeface="Calibri" pitchFamily="34" charset="0"/>
                <a:ea typeface="Calibri" pitchFamily="34" charset="-122"/>
                <a:cs typeface="Calibri" pitchFamily="34" charset="-120"/>
              </a:rPr>
              <a:t>A Power BI dashboard turning Olist's e-commerce data into decisions on revenue,</a:t>
            </a:r>
            <a:endParaRPr lang="en-US" sz="1500" dirty="0"/>
          </a:p>
          <a:p>
            <a:pPr marL="0" indent="0">
              <a:lnSpc>
                <a:spcPts val="2200"/>
              </a:lnSpc>
              <a:buNone/>
            </a:pPr>
            <a:r>
              <a:rPr lang="en-US" sz="1500" dirty="0">
                <a:solidFill>
                  <a:srgbClr val="D9C7E8"/>
                </a:solidFill>
                <a:latin typeface="Calibri" pitchFamily="34" charset="0"/>
                <a:ea typeface="Calibri" pitchFamily="34" charset="-122"/>
                <a:cs typeface="Calibri" pitchFamily="34" charset="-120"/>
              </a:rPr>
              <a:t>products, customers and regional performance.</a:t>
            </a:r>
            <a:endParaRPr lang="en-US" sz="1500" dirty="0"/>
          </a:p>
        </p:txBody>
      </p:sp>
      <p:sp>
        <p:nvSpPr>
          <p:cNvPr id="7" name="Shape 5"/>
          <p:cNvSpPr/>
          <p:nvPr/>
        </p:nvSpPr>
        <p:spPr>
          <a:xfrm>
            <a:off x="822960" y="4709160"/>
            <a:ext cx="4206240" cy="1417320"/>
          </a:xfrm>
          <a:prstGeom prst="roundRect">
            <a:avLst>
              <a:gd name="adj" fmla="val 6452"/>
            </a:avLst>
          </a:prstGeom>
          <a:solidFill>
            <a:srgbClr val="FFFFFF">
              <a:alpha val="8000"/>
            </a:srgbClr>
          </a:solidFill>
          <a:ln w="12700">
            <a:solidFill>
              <a:srgbClr val="F0A93A"/>
            </a:solidFill>
            <a:prstDash val="solid"/>
          </a:ln>
        </p:spPr>
        <p:txBody>
          <a:bodyPr/>
          <a:lstStyle/>
          <a:p>
            <a:endParaRPr lang="en-IN"/>
          </a:p>
        </p:txBody>
      </p:sp>
      <p:sp>
        <p:nvSpPr>
          <p:cNvPr id="8" name="Text 6"/>
          <p:cNvSpPr/>
          <p:nvPr/>
        </p:nvSpPr>
        <p:spPr>
          <a:xfrm>
            <a:off x="1051560" y="4846320"/>
            <a:ext cx="3657600" cy="274320"/>
          </a:xfrm>
          <a:prstGeom prst="rect">
            <a:avLst/>
          </a:prstGeom>
          <a:noFill/>
          <a:ln/>
        </p:spPr>
        <p:txBody>
          <a:bodyPr wrap="square" rtlCol="0" anchor="ctr"/>
          <a:lstStyle/>
          <a:p>
            <a:pPr marL="0" indent="0">
              <a:buNone/>
            </a:pPr>
            <a:r>
              <a:rPr lang="en-US" sz="1100" dirty="0">
                <a:solidFill>
                  <a:srgbClr val="D9C7E8"/>
                </a:solidFill>
                <a:latin typeface="Calibri" pitchFamily="34" charset="0"/>
                <a:ea typeface="Calibri" pitchFamily="34" charset="-122"/>
                <a:cs typeface="Calibri" pitchFamily="34" charset="-120"/>
              </a:rPr>
              <a:t>Presented by</a:t>
            </a:r>
            <a:endParaRPr lang="en-US" sz="1100" dirty="0"/>
          </a:p>
        </p:txBody>
      </p:sp>
      <p:sp>
        <p:nvSpPr>
          <p:cNvPr id="9" name="Text 7"/>
          <p:cNvSpPr/>
          <p:nvPr/>
        </p:nvSpPr>
        <p:spPr>
          <a:xfrm>
            <a:off x="1051560" y="5102352"/>
            <a:ext cx="3657600" cy="41148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Prakruthi B R</a:t>
            </a:r>
            <a:endParaRPr lang="en-US" sz="2200" dirty="0"/>
          </a:p>
        </p:txBody>
      </p:sp>
      <p:sp>
        <p:nvSpPr>
          <p:cNvPr id="10" name="Text 8"/>
          <p:cNvSpPr/>
          <p:nvPr/>
        </p:nvSpPr>
        <p:spPr>
          <a:xfrm>
            <a:off x="1051560" y="5559552"/>
            <a:ext cx="3657600" cy="320040"/>
          </a:xfrm>
          <a:prstGeom prst="rect">
            <a:avLst/>
          </a:prstGeom>
          <a:noFill/>
          <a:ln/>
        </p:spPr>
        <p:txBody>
          <a:bodyPr wrap="square" rtlCol="0" anchor="ctr"/>
          <a:lstStyle/>
          <a:p>
            <a:pPr marL="0" indent="0">
              <a:buNone/>
            </a:pPr>
            <a:r>
              <a:rPr lang="en-US" sz="1300" dirty="0">
                <a:solidFill>
                  <a:srgbClr val="D9C7E8"/>
                </a:solidFill>
                <a:latin typeface="Calibri" pitchFamily="34" charset="0"/>
                <a:ea typeface="Calibri" pitchFamily="34" charset="-122"/>
                <a:cs typeface="Calibri" pitchFamily="34" charset="-120"/>
              </a:rPr>
              <a:t>Reg No: 2411021240038</a:t>
            </a:r>
            <a:endParaRPr lang="en-US" sz="1300" dirty="0"/>
          </a:p>
        </p:txBody>
      </p:sp>
      <p:sp>
        <p:nvSpPr>
          <p:cNvPr id="11" name="Text 9"/>
          <p:cNvSpPr/>
          <p:nvPr/>
        </p:nvSpPr>
        <p:spPr>
          <a:xfrm>
            <a:off x="5486400" y="4846320"/>
            <a:ext cx="3200400" cy="274320"/>
          </a:xfrm>
          <a:prstGeom prst="rect">
            <a:avLst/>
          </a:prstGeom>
          <a:noFill/>
          <a:ln/>
        </p:spPr>
        <p:txBody>
          <a:bodyPr wrap="square" rtlCol="0" anchor="ctr"/>
          <a:lstStyle/>
          <a:p>
            <a:pPr marL="0" indent="0">
              <a:buNone/>
            </a:pPr>
            <a:r>
              <a:rPr lang="en-US" sz="1100" dirty="0">
                <a:solidFill>
                  <a:srgbClr val="D9C7E8"/>
                </a:solidFill>
                <a:latin typeface="Calibri" pitchFamily="34" charset="0"/>
                <a:ea typeface="Calibri" pitchFamily="34" charset="-122"/>
                <a:cs typeface="Calibri" pitchFamily="34" charset="-120"/>
              </a:rPr>
              <a:t>Role: Data Analyst</a:t>
            </a:r>
            <a:endParaRPr lang="en-US" sz="1100" dirty="0"/>
          </a:p>
        </p:txBody>
      </p:sp>
      <p:sp>
        <p:nvSpPr>
          <p:cNvPr id="12" name="Text 10"/>
          <p:cNvSpPr/>
          <p:nvPr/>
        </p:nvSpPr>
        <p:spPr>
          <a:xfrm>
            <a:off x="5486400" y="5138928"/>
            <a:ext cx="3200400" cy="274320"/>
          </a:xfrm>
          <a:prstGeom prst="rect">
            <a:avLst/>
          </a:prstGeom>
          <a:noFill/>
          <a:ln/>
        </p:spPr>
        <p:txBody>
          <a:bodyPr wrap="square" rtlCol="0" anchor="ctr"/>
          <a:lstStyle/>
          <a:p>
            <a:pPr marL="0" indent="0">
              <a:buNone/>
            </a:pPr>
            <a:r>
              <a:rPr lang="en-US" sz="1100" dirty="0">
                <a:solidFill>
                  <a:srgbClr val="D9C7E8"/>
                </a:solidFill>
                <a:latin typeface="Calibri" pitchFamily="34" charset="0"/>
                <a:ea typeface="Calibri" pitchFamily="34" charset="-122"/>
                <a:cs typeface="Calibri" pitchFamily="34" charset="-120"/>
              </a:rPr>
              <a:t>Tool: Microsoft Power BI</a:t>
            </a:r>
            <a:endParaRPr lang="en-US" sz="1100" dirty="0"/>
          </a:p>
        </p:txBody>
      </p:sp>
      <p:sp>
        <p:nvSpPr>
          <p:cNvPr id="13" name="Text 11"/>
          <p:cNvSpPr/>
          <p:nvPr/>
        </p:nvSpPr>
        <p:spPr>
          <a:xfrm>
            <a:off x="5486400" y="5431536"/>
            <a:ext cx="4114800" cy="274320"/>
          </a:xfrm>
          <a:prstGeom prst="rect">
            <a:avLst/>
          </a:prstGeom>
          <a:noFill/>
          <a:ln/>
        </p:spPr>
        <p:txBody>
          <a:bodyPr wrap="square" rtlCol="0" anchor="ctr"/>
          <a:lstStyle/>
          <a:p>
            <a:pPr marL="0" indent="0">
              <a:buNone/>
            </a:pPr>
            <a:r>
              <a:rPr lang="en-US" sz="1100" dirty="0">
                <a:solidFill>
                  <a:srgbClr val="D9C7E8"/>
                </a:solidFill>
                <a:latin typeface="Calibri" pitchFamily="34" charset="0"/>
                <a:ea typeface="Calibri" pitchFamily="34" charset="-122"/>
                <a:cs typeface="Calibri" pitchFamily="34" charset="-120"/>
              </a:rPr>
              <a:t>Dataset: Brazilian E-Commerce (Olist)</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7A3E9D"/>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2A1338"/>
                </a:solidFill>
                <a:latin typeface="Cambria" pitchFamily="34" charset="0"/>
                <a:ea typeface="Cambria" pitchFamily="34" charset="-122"/>
                <a:cs typeface="Cambria" pitchFamily="34" charset="-120"/>
              </a:rPr>
              <a:t>What I'll Cover Today</a:t>
            </a:r>
            <a:endParaRPr lang="en-US" sz="3000" dirty="0"/>
          </a:p>
        </p:txBody>
      </p:sp>
      <p:sp>
        <p:nvSpPr>
          <p:cNvPr id="4" name="Shape 2"/>
          <p:cNvSpPr/>
          <p:nvPr/>
        </p:nvSpPr>
        <p:spPr>
          <a:xfrm>
            <a:off x="640080" y="1554480"/>
            <a:ext cx="502920" cy="502920"/>
          </a:xfrm>
          <a:prstGeom prst="ellipse">
            <a:avLst/>
          </a:prstGeom>
          <a:solidFill>
            <a:srgbClr val="7A3E9D"/>
          </a:solidFill>
          <a:ln/>
        </p:spPr>
        <p:txBody>
          <a:bodyPr/>
          <a:lstStyle/>
          <a:p>
            <a:endParaRPr lang="en-IN"/>
          </a:p>
        </p:txBody>
      </p:sp>
      <p:sp>
        <p:nvSpPr>
          <p:cNvPr id="5" name="Text 3"/>
          <p:cNvSpPr/>
          <p:nvPr/>
        </p:nvSpPr>
        <p:spPr>
          <a:xfrm>
            <a:off x="640080" y="155448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371600" y="1527048"/>
            <a:ext cx="5029200" cy="320040"/>
          </a:xfrm>
          <a:prstGeom prst="rect">
            <a:avLst/>
          </a:prstGeom>
          <a:noFill/>
          <a:ln/>
        </p:spPr>
        <p:txBody>
          <a:bodyPr wrap="square" rtlCol="0" anchor="ctr"/>
          <a:lstStyle/>
          <a:p>
            <a:pPr marL="0" indent="0">
              <a:buNone/>
            </a:pPr>
            <a:r>
              <a:rPr lang="en-US" sz="1700" b="1" dirty="0">
                <a:solidFill>
                  <a:srgbClr val="2A1338"/>
                </a:solidFill>
                <a:latin typeface="Cambria" pitchFamily="34" charset="0"/>
                <a:ea typeface="Cambria" pitchFamily="34" charset="-122"/>
                <a:cs typeface="Cambria" pitchFamily="34" charset="-120"/>
              </a:rPr>
              <a:t>Business Overview</a:t>
            </a:r>
            <a:endParaRPr lang="en-US" sz="1700" dirty="0"/>
          </a:p>
        </p:txBody>
      </p:sp>
      <p:sp>
        <p:nvSpPr>
          <p:cNvPr id="7" name="Text 5"/>
          <p:cNvSpPr/>
          <p:nvPr/>
        </p:nvSpPr>
        <p:spPr>
          <a:xfrm>
            <a:off x="1371600" y="1828800"/>
            <a:ext cx="5669280" cy="320040"/>
          </a:xfrm>
          <a:prstGeom prst="rect">
            <a:avLst/>
          </a:prstGeom>
          <a:noFill/>
          <a:ln/>
        </p:spPr>
        <p:txBody>
          <a:bodyPr wrap="square" rtlCol="0" anchor="ctr"/>
          <a:lstStyle/>
          <a:p>
            <a:pPr marL="0" indent="0">
              <a:buNone/>
            </a:pPr>
            <a:r>
              <a:rPr lang="en-US" sz="1250" dirty="0">
                <a:solidFill>
                  <a:srgbClr val="6B5878"/>
                </a:solidFill>
                <a:latin typeface="Calibri" pitchFamily="34" charset="0"/>
                <a:ea typeface="Calibri" pitchFamily="34" charset="-122"/>
                <a:cs typeface="Calibri" pitchFamily="34" charset="-120"/>
              </a:rPr>
              <a:t>Client goals &amp; the 10 questions this dashboard answers</a:t>
            </a:r>
            <a:endParaRPr lang="en-US" sz="1250" dirty="0"/>
          </a:p>
        </p:txBody>
      </p:sp>
      <p:sp>
        <p:nvSpPr>
          <p:cNvPr id="8" name="Shape 6"/>
          <p:cNvSpPr/>
          <p:nvPr/>
        </p:nvSpPr>
        <p:spPr>
          <a:xfrm>
            <a:off x="640080" y="2487168"/>
            <a:ext cx="502920" cy="502920"/>
          </a:xfrm>
          <a:prstGeom prst="ellipse">
            <a:avLst/>
          </a:prstGeom>
          <a:solidFill>
            <a:srgbClr val="F0A93A"/>
          </a:solidFill>
          <a:ln/>
        </p:spPr>
        <p:txBody>
          <a:bodyPr/>
          <a:lstStyle/>
          <a:p>
            <a:endParaRPr lang="en-IN"/>
          </a:p>
        </p:txBody>
      </p:sp>
      <p:sp>
        <p:nvSpPr>
          <p:cNvPr id="9" name="Text 7"/>
          <p:cNvSpPr/>
          <p:nvPr/>
        </p:nvSpPr>
        <p:spPr>
          <a:xfrm>
            <a:off x="640080" y="2487168"/>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371600" y="2459736"/>
            <a:ext cx="5029200" cy="320040"/>
          </a:xfrm>
          <a:prstGeom prst="rect">
            <a:avLst/>
          </a:prstGeom>
          <a:noFill/>
          <a:ln/>
        </p:spPr>
        <p:txBody>
          <a:bodyPr wrap="square" rtlCol="0" anchor="ctr"/>
          <a:lstStyle/>
          <a:p>
            <a:pPr marL="0" indent="0">
              <a:buNone/>
            </a:pPr>
            <a:r>
              <a:rPr lang="en-US" sz="1700" b="1" dirty="0">
                <a:solidFill>
                  <a:srgbClr val="2A1338"/>
                </a:solidFill>
                <a:latin typeface="Cambria" pitchFamily="34" charset="0"/>
                <a:ea typeface="Cambria" pitchFamily="34" charset="-122"/>
                <a:cs typeface="Cambria" pitchFamily="34" charset="-120"/>
              </a:rPr>
              <a:t>Data &amp; Approach</a:t>
            </a:r>
            <a:endParaRPr lang="en-US" sz="1700" dirty="0"/>
          </a:p>
        </p:txBody>
      </p:sp>
      <p:sp>
        <p:nvSpPr>
          <p:cNvPr id="11" name="Text 9"/>
          <p:cNvSpPr/>
          <p:nvPr/>
        </p:nvSpPr>
        <p:spPr>
          <a:xfrm>
            <a:off x="1371600" y="2761488"/>
            <a:ext cx="5669280" cy="320040"/>
          </a:xfrm>
          <a:prstGeom prst="rect">
            <a:avLst/>
          </a:prstGeom>
          <a:noFill/>
          <a:ln/>
        </p:spPr>
        <p:txBody>
          <a:bodyPr wrap="square" rtlCol="0" anchor="ctr"/>
          <a:lstStyle/>
          <a:p>
            <a:pPr marL="0" indent="0">
              <a:buNone/>
            </a:pPr>
            <a:r>
              <a:rPr lang="en-US" sz="1250" dirty="0">
                <a:solidFill>
                  <a:srgbClr val="6B5878"/>
                </a:solidFill>
                <a:latin typeface="Calibri" pitchFamily="34" charset="0"/>
                <a:ea typeface="Calibri" pitchFamily="34" charset="-122"/>
                <a:cs typeface="Calibri" pitchFamily="34" charset="-120"/>
              </a:rPr>
              <a:t>Dataset, cleaning, modeling, and DAX measures</a:t>
            </a:r>
            <a:endParaRPr lang="en-US" sz="1250" dirty="0"/>
          </a:p>
        </p:txBody>
      </p:sp>
      <p:sp>
        <p:nvSpPr>
          <p:cNvPr id="12" name="Shape 10"/>
          <p:cNvSpPr/>
          <p:nvPr/>
        </p:nvSpPr>
        <p:spPr>
          <a:xfrm>
            <a:off x="640080" y="3419856"/>
            <a:ext cx="502920" cy="502920"/>
          </a:xfrm>
          <a:prstGeom prst="ellipse">
            <a:avLst/>
          </a:prstGeom>
          <a:solidFill>
            <a:srgbClr val="7A3E9D"/>
          </a:solidFill>
          <a:ln/>
        </p:spPr>
        <p:txBody>
          <a:bodyPr/>
          <a:lstStyle/>
          <a:p>
            <a:endParaRPr lang="en-IN"/>
          </a:p>
        </p:txBody>
      </p:sp>
      <p:sp>
        <p:nvSpPr>
          <p:cNvPr id="13" name="Text 11"/>
          <p:cNvSpPr/>
          <p:nvPr/>
        </p:nvSpPr>
        <p:spPr>
          <a:xfrm>
            <a:off x="640080" y="3419856"/>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371600" y="3392424"/>
            <a:ext cx="5029200" cy="320040"/>
          </a:xfrm>
          <a:prstGeom prst="rect">
            <a:avLst/>
          </a:prstGeom>
          <a:noFill/>
          <a:ln/>
        </p:spPr>
        <p:txBody>
          <a:bodyPr wrap="square" rtlCol="0" anchor="ctr"/>
          <a:lstStyle/>
          <a:p>
            <a:pPr marL="0" indent="0">
              <a:buNone/>
            </a:pPr>
            <a:r>
              <a:rPr lang="en-US" sz="1700" b="1" dirty="0">
                <a:solidFill>
                  <a:srgbClr val="2A1338"/>
                </a:solidFill>
                <a:latin typeface="Cambria" pitchFamily="34" charset="0"/>
                <a:ea typeface="Cambria" pitchFamily="34" charset="-122"/>
                <a:cs typeface="Cambria" pitchFamily="34" charset="-120"/>
              </a:rPr>
              <a:t>Dashboard Walkthrough</a:t>
            </a:r>
            <a:endParaRPr lang="en-US" sz="1700" dirty="0"/>
          </a:p>
        </p:txBody>
      </p:sp>
      <p:sp>
        <p:nvSpPr>
          <p:cNvPr id="15" name="Text 13"/>
          <p:cNvSpPr/>
          <p:nvPr/>
        </p:nvSpPr>
        <p:spPr>
          <a:xfrm>
            <a:off x="1371600" y="3694176"/>
            <a:ext cx="5669280" cy="320040"/>
          </a:xfrm>
          <a:prstGeom prst="rect">
            <a:avLst/>
          </a:prstGeom>
          <a:noFill/>
          <a:ln/>
        </p:spPr>
        <p:txBody>
          <a:bodyPr wrap="square" rtlCol="0" anchor="ctr"/>
          <a:lstStyle/>
          <a:p>
            <a:pPr marL="0" indent="0">
              <a:buNone/>
            </a:pPr>
            <a:r>
              <a:rPr lang="en-US" sz="1250" dirty="0">
                <a:solidFill>
                  <a:srgbClr val="6B5878"/>
                </a:solidFill>
                <a:latin typeface="Calibri" pitchFamily="34" charset="0"/>
                <a:ea typeface="Calibri" pitchFamily="34" charset="-122"/>
                <a:cs typeface="Calibri" pitchFamily="34" charset="-120"/>
              </a:rPr>
              <a:t>Overview, Products &amp; Categories, Customers &amp; Regions</a:t>
            </a:r>
            <a:endParaRPr lang="en-US" sz="1250" dirty="0"/>
          </a:p>
        </p:txBody>
      </p:sp>
      <p:sp>
        <p:nvSpPr>
          <p:cNvPr id="16" name="Shape 14"/>
          <p:cNvSpPr/>
          <p:nvPr/>
        </p:nvSpPr>
        <p:spPr>
          <a:xfrm>
            <a:off x="640080" y="4352544"/>
            <a:ext cx="502920" cy="502920"/>
          </a:xfrm>
          <a:prstGeom prst="ellipse">
            <a:avLst/>
          </a:prstGeom>
          <a:solidFill>
            <a:srgbClr val="F0A93A"/>
          </a:solidFill>
          <a:ln/>
        </p:spPr>
        <p:txBody>
          <a:bodyPr/>
          <a:lstStyle/>
          <a:p>
            <a:endParaRPr lang="en-IN"/>
          </a:p>
        </p:txBody>
      </p:sp>
      <p:sp>
        <p:nvSpPr>
          <p:cNvPr id="17" name="Text 15"/>
          <p:cNvSpPr/>
          <p:nvPr/>
        </p:nvSpPr>
        <p:spPr>
          <a:xfrm>
            <a:off x="640080" y="4352544"/>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1371600" y="4325112"/>
            <a:ext cx="5029200" cy="320040"/>
          </a:xfrm>
          <a:prstGeom prst="rect">
            <a:avLst/>
          </a:prstGeom>
          <a:noFill/>
          <a:ln/>
        </p:spPr>
        <p:txBody>
          <a:bodyPr wrap="square" rtlCol="0" anchor="ctr"/>
          <a:lstStyle/>
          <a:p>
            <a:pPr marL="0" indent="0">
              <a:buNone/>
            </a:pPr>
            <a:r>
              <a:rPr lang="en-US" sz="1700" b="1" dirty="0">
                <a:solidFill>
                  <a:srgbClr val="2A1338"/>
                </a:solidFill>
                <a:latin typeface="Cambria" pitchFamily="34" charset="0"/>
                <a:ea typeface="Cambria" pitchFamily="34" charset="-122"/>
                <a:cs typeface="Cambria" pitchFamily="34" charset="-120"/>
              </a:rPr>
              <a:t>Key Insights</a:t>
            </a:r>
            <a:endParaRPr lang="en-US" sz="1700" dirty="0"/>
          </a:p>
        </p:txBody>
      </p:sp>
      <p:sp>
        <p:nvSpPr>
          <p:cNvPr id="19" name="Text 17"/>
          <p:cNvSpPr/>
          <p:nvPr/>
        </p:nvSpPr>
        <p:spPr>
          <a:xfrm>
            <a:off x="1371600" y="4626864"/>
            <a:ext cx="5669280" cy="320040"/>
          </a:xfrm>
          <a:prstGeom prst="rect">
            <a:avLst/>
          </a:prstGeom>
          <a:noFill/>
          <a:ln/>
        </p:spPr>
        <p:txBody>
          <a:bodyPr wrap="square" rtlCol="0" anchor="ctr"/>
          <a:lstStyle/>
          <a:p>
            <a:pPr marL="0" indent="0">
              <a:buNone/>
            </a:pPr>
            <a:r>
              <a:rPr lang="en-US" sz="1250" dirty="0">
                <a:solidFill>
                  <a:srgbClr val="6B5878"/>
                </a:solidFill>
                <a:latin typeface="Calibri" pitchFamily="34" charset="0"/>
                <a:ea typeface="Calibri" pitchFamily="34" charset="-122"/>
                <a:cs typeface="Calibri" pitchFamily="34" charset="-120"/>
              </a:rPr>
              <a:t>What the numbers reveal about ShopSphere's business</a:t>
            </a:r>
            <a:endParaRPr lang="en-US" sz="1250" dirty="0"/>
          </a:p>
        </p:txBody>
      </p:sp>
      <p:sp>
        <p:nvSpPr>
          <p:cNvPr id="20" name="Shape 18"/>
          <p:cNvSpPr/>
          <p:nvPr/>
        </p:nvSpPr>
        <p:spPr>
          <a:xfrm>
            <a:off x="640080" y="5285232"/>
            <a:ext cx="502920" cy="502920"/>
          </a:xfrm>
          <a:prstGeom prst="ellipse">
            <a:avLst/>
          </a:prstGeom>
          <a:solidFill>
            <a:srgbClr val="7A3E9D"/>
          </a:solidFill>
          <a:ln/>
        </p:spPr>
        <p:txBody>
          <a:bodyPr/>
          <a:lstStyle/>
          <a:p>
            <a:endParaRPr lang="en-IN"/>
          </a:p>
        </p:txBody>
      </p:sp>
      <p:sp>
        <p:nvSpPr>
          <p:cNvPr id="21" name="Text 19"/>
          <p:cNvSpPr/>
          <p:nvPr/>
        </p:nvSpPr>
        <p:spPr>
          <a:xfrm>
            <a:off x="640080" y="5285232"/>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2" name="Text 20"/>
          <p:cNvSpPr/>
          <p:nvPr/>
        </p:nvSpPr>
        <p:spPr>
          <a:xfrm>
            <a:off x="1371600" y="5257800"/>
            <a:ext cx="5029200" cy="320040"/>
          </a:xfrm>
          <a:prstGeom prst="rect">
            <a:avLst/>
          </a:prstGeom>
          <a:noFill/>
          <a:ln/>
        </p:spPr>
        <p:txBody>
          <a:bodyPr wrap="square" rtlCol="0" anchor="ctr"/>
          <a:lstStyle/>
          <a:p>
            <a:pPr marL="0" indent="0">
              <a:buNone/>
            </a:pPr>
            <a:r>
              <a:rPr lang="en-US" sz="1700" b="1" dirty="0">
                <a:solidFill>
                  <a:srgbClr val="2A1338"/>
                </a:solidFill>
                <a:latin typeface="Cambria" pitchFamily="34" charset="0"/>
                <a:ea typeface="Cambria" pitchFamily="34" charset="-122"/>
                <a:cs typeface="Cambria" pitchFamily="34" charset="-120"/>
              </a:rPr>
              <a:t>Recommendations</a:t>
            </a:r>
            <a:endParaRPr lang="en-US" sz="1700" dirty="0"/>
          </a:p>
        </p:txBody>
      </p:sp>
      <p:sp>
        <p:nvSpPr>
          <p:cNvPr id="23" name="Text 21"/>
          <p:cNvSpPr/>
          <p:nvPr/>
        </p:nvSpPr>
        <p:spPr>
          <a:xfrm>
            <a:off x="1371600" y="5559552"/>
            <a:ext cx="5669280" cy="320040"/>
          </a:xfrm>
          <a:prstGeom prst="rect">
            <a:avLst/>
          </a:prstGeom>
          <a:noFill/>
          <a:ln/>
        </p:spPr>
        <p:txBody>
          <a:bodyPr wrap="square" rtlCol="0" anchor="ctr"/>
          <a:lstStyle/>
          <a:p>
            <a:pPr marL="0" indent="0">
              <a:buNone/>
            </a:pPr>
            <a:r>
              <a:rPr lang="en-US" sz="1250" dirty="0">
                <a:solidFill>
                  <a:srgbClr val="6B5878"/>
                </a:solidFill>
                <a:latin typeface="Calibri" pitchFamily="34" charset="0"/>
                <a:ea typeface="Calibri" pitchFamily="34" charset="-122"/>
                <a:cs typeface="Calibri" pitchFamily="34" charset="-120"/>
              </a:rPr>
              <a:t>Actions the business should take next</a:t>
            </a:r>
            <a:endParaRPr lang="en-US" sz="1250" dirty="0"/>
          </a:p>
        </p:txBody>
      </p:sp>
      <p:sp>
        <p:nvSpPr>
          <p:cNvPr id="24" name="Shape 22"/>
          <p:cNvSpPr/>
          <p:nvPr/>
        </p:nvSpPr>
        <p:spPr>
          <a:xfrm>
            <a:off x="7589520" y="1417320"/>
            <a:ext cx="4023360" cy="4663440"/>
          </a:xfrm>
          <a:prstGeom prst="roundRect">
            <a:avLst>
              <a:gd name="adj" fmla="val 2727"/>
            </a:avLst>
          </a:prstGeom>
          <a:solidFill>
            <a:srgbClr val="3B1656"/>
          </a:solidFill>
          <a:ln/>
        </p:spPr>
        <p:txBody>
          <a:bodyPr/>
          <a:lstStyle/>
          <a:p>
            <a:endParaRPr lang="en-IN"/>
          </a:p>
        </p:txBody>
      </p:sp>
      <p:sp>
        <p:nvSpPr>
          <p:cNvPr id="25" name="Text 23"/>
          <p:cNvSpPr/>
          <p:nvPr/>
        </p:nvSpPr>
        <p:spPr>
          <a:xfrm>
            <a:off x="7863840" y="1691640"/>
            <a:ext cx="3474720" cy="274320"/>
          </a:xfrm>
          <a:prstGeom prst="rect">
            <a:avLst/>
          </a:prstGeom>
          <a:noFill/>
          <a:ln/>
        </p:spPr>
        <p:txBody>
          <a:bodyPr wrap="square" rtlCol="0" anchor="ctr"/>
          <a:lstStyle/>
          <a:p>
            <a:pPr marL="0" indent="0">
              <a:buNone/>
            </a:pPr>
            <a:r>
              <a:rPr lang="en-US" sz="1100" b="1" kern="0" spc="150" dirty="0">
                <a:solidFill>
                  <a:srgbClr val="F0A93A"/>
                </a:solidFill>
                <a:latin typeface="Calibri" pitchFamily="34" charset="0"/>
                <a:ea typeface="Calibri" pitchFamily="34" charset="-122"/>
                <a:cs typeface="Calibri" pitchFamily="34" charset="-120"/>
              </a:rPr>
              <a:t>10-MINUTE FORMAT</a:t>
            </a:r>
            <a:endParaRPr lang="en-US" sz="1100" dirty="0"/>
          </a:p>
        </p:txBody>
      </p:sp>
      <p:sp>
        <p:nvSpPr>
          <p:cNvPr id="26" name="Text 24"/>
          <p:cNvSpPr/>
          <p:nvPr/>
        </p:nvSpPr>
        <p:spPr>
          <a:xfrm>
            <a:off x="7863840" y="2057400"/>
            <a:ext cx="3474720" cy="1463040"/>
          </a:xfrm>
          <a:prstGeom prst="rect">
            <a:avLst/>
          </a:prstGeom>
          <a:noFill/>
          <a:ln/>
        </p:spPr>
        <p:txBody>
          <a:bodyPr wrap="square" rtlCol="0" anchor="ctr"/>
          <a:lstStyle/>
          <a:p>
            <a:pPr marL="0" indent="0">
              <a:lnSpc>
                <a:spcPts val="1900"/>
              </a:lnSpc>
              <a:buNone/>
            </a:pPr>
            <a:r>
              <a:rPr lang="en-US" sz="1300" dirty="0">
                <a:solidFill>
                  <a:srgbClr val="E9DEF2"/>
                </a:solidFill>
                <a:latin typeface="Calibri" pitchFamily="34" charset="0"/>
                <a:ea typeface="Calibri" pitchFamily="34" charset="-122"/>
                <a:cs typeface="Calibri" pitchFamily="34" charset="-120"/>
              </a:rPr>
              <a:t>This session is structured as a live dashboard demo — each visual is explained in terms of the business question it answers, not just how it was built.</a:t>
            </a:r>
            <a:endParaRPr lang="en-US" sz="1300" dirty="0"/>
          </a:p>
        </p:txBody>
      </p:sp>
      <p:sp>
        <p:nvSpPr>
          <p:cNvPr id="27" name="Shape 25"/>
          <p:cNvSpPr/>
          <p:nvPr/>
        </p:nvSpPr>
        <p:spPr>
          <a:xfrm>
            <a:off x="7863840" y="3703320"/>
            <a:ext cx="3474720" cy="0"/>
          </a:xfrm>
          <a:prstGeom prst="line">
            <a:avLst/>
          </a:prstGeom>
          <a:noFill/>
          <a:ln w="12700">
            <a:solidFill>
              <a:srgbClr val="6B4A82"/>
            </a:solidFill>
            <a:prstDash val="solid"/>
          </a:ln>
        </p:spPr>
        <p:txBody>
          <a:bodyPr/>
          <a:lstStyle/>
          <a:p>
            <a:endParaRPr lang="en-IN"/>
          </a:p>
        </p:txBody>
      </p:sp>
      <p:sp>
        <p:nvSpPr>
          <p:cNvPr id="28" name="Text 26"/>
          <p:cNvSpPr/>
          <p:nvPr/>
        </p:nvSpPr>
        <p:spPr>
          <a:xfrm>
            <a:off x="7863840" y="3886200"/>
            <a:ext cx="3474720" cy="1737360"/>
          </a:xfrm>
          <a:prstGeom prst="rect">
            <a:avLst/>
          </a:prstGeom>
          <a:noFill/>
          <a:ln/>
        </p:spPr>
        <p:txBody>
          <a:bodyPr wrap="square" rtlCol="0" anchor="ctr"/>
          <a:lstStyle/>
          <a:p>
            <a:pPr marL="0" indent="0">
              <a:lnSpc>
                <a:spcPts val="2000"/>
              </a:lnSpc>
              <a:buNone/>
            </a:pPr>
            <a:r>
              <a:rPr lang="en-US" sz="1200" dirty="0">
                <a:solidFill>
                  <a:srgbClr val="D9C7E8"/>
                </a:solidFill>
                <a:latin typeface="Calibri" pitchFamily="34" charset="0"/>
                <a:ea typeface="Calibri" pitchFamily="34" charset="-122"/>
                <a:cs typeface="Calibri" pitchFamily="34" charset="-120"/>
              </a:rPr>
              <a:t>Client: ShopSphere Online</a:t>
            </a:r>
            <a:endParaRPr lang="en-US" sz="1200" dirty="0"/>
          </a:p>
          <a:p>
            <a:pPr marL="0" indent="0">
              <a:lnSpc>
                <a:spcPts val="2000"/>
              </a:lnSpc>
              <a:buNone/>
            </a:pPr>
            <a:r>
              <a:rPr lang="en-US" sz="1200" dirty="0">
                <a:solidFill>
                  <a:srgbClr val="D9C7E8"/>
                </a:solidFill>
                <a:latin typeface="Calibri" pitchFamily="34" charset="0"/>
                <a:ea typeface="Calibri" pitchFamily="34" charset="-122"/>
                <a:cs typeface="Calibri" pitchFamily="34" charset="-120"/>
              </a:rPr>
              <a:t>Dataset: olistbr/brazilian-ecommerce</a:t>
            </a:r>
            <a:endParaRPr lang="en-US" sz="1200" dirty="0"/>
          </a:p>
          <a:p>
            <a:pPr marL="0" indent="0">
              <a:lnSpc>
                <a:spcPts val="2000"/>
              </a:lnSpc>
              <a:buNone/>
            </a:pPr>
            <a:r>
              <a:rPr lang="en-US" sz="1200" dirty="0">
                <a:solidFill>
                  <a:srgbClr val="D9C7E8"/>
                </a:solidFill>
                <a:latin typeface="Calibri" pitchFamily="34" charset="0"/>
                <a:ea typeface="Calibri" pitchFamily="34" charset="-122"/>
                <a:cs typeface="Calibri" pitchFamily="34" charset="-120"/>
              </a:rPr>
              <a:t>Platform: Power BI Desktop</a:t>
            </a:r>
            <a:endParaRPr lang="en-US" sz="1200" dirty="0"/>
          </a:p>
        </p:txBody>
      </p:sp>
      <p:sp>
        <p:nvSpPr>
          <p:cNvPr id="30" name="Text 27"/>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5878"/>
                </a:solidFill>
                <a:latin typeface="Calibri" pitchFamily="34" charset="0"/>
                <a:ea typeface="Calibri" pitchFamily="34" charset="-122"/>
                <a:cs typeface="Calibri" pitchFamily="34" charset="-120"/>
              </a:rPr>
              <a:t>02</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7A3E9D"/>
                </a:solidFill>
                <a:latin typeface="Calibri" pitchFamily="34" charset="0"/>
                <a:ea typeface="Calibri" pitchFamily="34" charset="-122"/>
                <a:cs typeface="Calibri" pitchFamily="34" charset="-120"/>
              </a:rPr>
              <a:t>BUSINESS OVERVIEW</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2A1338"/>
                </a:solidFill>
                <a:latin typeface="Cambria" pitchFamily="34" charset="0"/>
                <a:ea typeface="Cambria" pitchFamily="34" charset="-122"/>
                <a:cs typeface="Cambria" pitchFamily="34" charset="-120"/>
              </a:rPr>
              <a:t>The Problem We're Solving</a:t>
            </a:r>
            <a:endParaRPr lang="en-US" sz="3000" dirty="0"/>
          </a:p>
        </p:txBody>
      </p:sp>
      <p:sp>
        <p:nvSpPr>
          <p:cNvPr id="4" name="Shape 2"/>
          <p:cNvSpPr/>
          <p:nvPr/>
        </p:nvSpPr>
        <p:spPr>
          <a:xfrm>
            <a:off x="548640" y="1508760"/>
            <a:ext cx="6766560" cy="1417320"/>
          </a:xfrm>
          <a:prstGeom prst="roundRect">
            <a:avLst>
              <a:gd name="adj" fmla="val 6452"/>
            </a:avLst>
          </a:prstGeom>
          <a:solidFill>
            <a:srgbClr val="E9DEF2"/>
          </a:solidFill>
          <a:ln/>
        </p:spPr>
        <p:txBody>
          <a:bodyPr/>
          <a:lstStyle/>
          <a:p>
            <a:endParaRPr lang="en-IN"/>
          </a:p>
        </p:txBody>
      </p:sp>
      <p:sp>
        <p:nvSpPr>
          <p:cNvPr id="5" name="Text 3"/>
          <p:cNvSpPr/>
          <p:nvPr/>
        </p:nvSpPr>
        <p:spPr>
          <a:xfrm>
            <a:off x="822960" y="1691640"/>
            <a:ext cx="6309360" cy="1097280"/>
          </a:xfrm>
          <a:prstGeom prst="rect">
            <a:avLst/>
          </a:prstGeom>
          <a:noFill/>
          <a:ln/>
        </p:spPr>
        <p:txBody>
          <a:bodyPr wrap="square" rtlCol="0" anchor="ctr"/>
          <a:lstStyle/>
          <a:p>
            <a:pPr marL="0" indent="0">
              <a:lnSpc>
                <a:spcPts val="2000"/>
              </a:lnSpc>
              <a:buNone/>
            </a:pPr>
            <a:r>
              <a:rPr lang="en-US" sz="1400" i="1" dirty="0">
                <a:solidFill>
                  <a:srgbClr val="2A1338"/>
                </a:solidFill>
                <a:latin typeface="Calibri" pitchFamily="34" charset="0"/>
                <a:ea typeface="Calibri" pitchFamily="34" charset="-122"/>
                <a:cs typeface="Calibri" pitchFamily="34" charset="-120"/>
              </a:rPr>
              <a:t>ShopSphere Online wants to improve customer experience and maximize online sales by understanding purchasing behavior, product performance, and customer engagement — using real e-commerce transaction data.</a:t>
            </a:r>
            <a:endParaRPr lang="en-US" sz="1400" dirty="0"/>
          </a:p>
        </p:txBody>
      </p:sp>
      <p:sp>
        <p:nvSpPr>
          <p:cNvPr id="6" name="Text 4"/>
          <p:cNvSpPr/>
          <p:nvPr/>
        </p:nvSpPr>
        <p:spPr>
          <a:xfrm>
            <a:off x="548640" y="3108960"/>
            <a:ext cx="6400800" cy="320040"/>
          </a:xfrm>
          <a:prstGeom prst="rect">
            <a:avLst/>
          </a:prstGeom>
          <a:noFill/>
          <a:ln/>
        </p:spPr>
        <p:txBody>
          <a:bodyPr wrap="square" rtlCol="0" anchor="ctr"/>
          <a:lstStyle/>
          <a:p>
            <a:pPr marL="0" indent="0">
              <a:buNone/>
            </a:pPr>
            <a:r>
              <a:rPr lang="en-US" sz="1500" b="1" dirty="0">
                <a:solidFill>
                  <a:srgbClr val="3B1656"/>
                </a:solidFill>
                <a:latin typeface="Cambria" pitchFamily="34" charset="0"/>
                <a:ea typeface="Cambria" pitchFamily="34" charset="-122"/>
                <a:cs typeface="Cambria" pitchFamily="34" charset="-120"/>
              </a:rPr>
              <a:t>The dashboard answers 10 core business questions:</a:t>
            </a:r>
            <a:endParaRPr lang="en-US" sz="1500" dirty="0"/>
          </a:p>
        </p:txBody>
      </p:sp>
      <p:sp>
        <p:nvSpPr>
          <p:cNvPr id="7" name="Text 5"/>
          <p:cNvSpPr/>
          <p:nvPr/>
        </p:nvSpPr>
        <p:spPr>
          <a:xfrm>
            <a:off x="548640" y="3520440"/>
            <a:ext cx="3291840" cy="320040"/>
          </a:xfrm>
          <a:prstGeom prst="rect">
            <a:avLst/>
          </a:prstGeom>
          <a:noFill/>
          <a:ln/>
        </p:spPr>
        <p:txBody>
          <a:bodyPr wrap="square" rtlCol="0" anchor="ctr"/>
          <a:lstStyle/>
          <a:p>
            <a:pPr marL="0" indent="0">
              <a:buNone/>
            </a:pPr>
            <a:r>
              <a:rPr lang="en-US" sz="1200" dirty="0">
                <a:solidFill>
                  <a:srgbClr val="2A1338"/>
                </a:solidFill>
                <a:latin typeface="Calibri" pitchFamily="34" charset="0"/>
                <a:ea typeface="Calibri" pitchFamily="34" charset="-122"/>
                <a:cs typeface="Calibri" pitchFamily="34" charset="-120"/>
              </a:rPr>
              <a:t>1. Overall revenue generated</a:t>
            </a:r>
            <a:endParaRPr lang="en-US" sz="1200" dirty="0"/>
          </a:p>
        </p:txBody>
      </p:sp>
      <p:sp>
        <p:nvSpPr>
          <p:cNvPr id="8" name="Text 6"/>
          <p:cNvSpPr/>
          <p:nvPr/>
        </p:nvSpPr>
        <p:spPr>
          <a:xfrm>
            <a:off x="548640" y="3886200"/>
            <a:ext cx="3291840" cy="320040"/>
          </a:xfrm>
          <a:prstGeom prst="rect">
            <a:avLst/>
          </a:prstGeom>
          <a:noFill/>
          <a:ln/>
        </p:spPr>
        <p:txBody>
          <a:bodyPr wrap="square" rtlCol="0" anchor="ctr"/>
          <a:lstStyle/>
          <a:p>
            <a:pPr marL="0" indent="0">
              <a:buNone/>
            </a:pPr>
            <a:r>
              <a:rPr lang="en-US" sz="1200" dirty="0">
                <a:solidFill>
                  <a:srgbClr val="2A1338"/>
                </a:solidFill>
                <a:latin typeface="Calibri" pitchFamily="34" charset="0"/>
                <a:ea typeface="Calibri" pitchFamily="34" charset="-122"/>
                <a:cs typeface="Calibri" pitchFamily="34" charset="-120"/>
              </a:rPr>
              <a:t>2. Top revenue-generating products &amp; categories</a:t>
            </a:r>
            <a:endParaRPr lang="en-US" sz="1200" dirty="0"/>
          </a:p>
        </p:txBody>
      </p:sp>
      <p:sp>
        <p:nvSpPr>
          <p:cNvPr id="9" name="Text 7"/>
          <p:cNvSpPr/>
          <p:nvPr/>
        </p:nvSpPr>
        <p:spPr>
          <a:xfrm>
            <a:off x="548640" y="4251960"/>
            <a:ext cx="3291840" cy="320040"/>
          </a:xfrm>
          <a:prstGeom prst="rect">
            <a:avLst/>
          </a:prstGeom>
          <a:noFill/>
          <a:ln/>
        </p:spPr>
        <p:txBody>
          <a:bodyPr wrap="square" rtlCol="0" anchor="ctr"/>
          <a:lstStyle/>
          <a:p>
            <a:pPr marL="0" indent="0">
              <a:buNone/>
            </a:pPr>
            <a:r>
              <a:rPr lang="en-US" sz="1200" dirty="0">
                <a:solidFill>
                  <a:srgbClr val="2A1338"/>
                </a:solidFill>
                <a:latin typeface="Calibri" pitchFamily="34" charset="0"/>
                <a:ea typeface="Calibri" pitchFamily="34" charset="-122"/>
                <a:cs typeface="Calibri" pitchFamily="34" charset="-120"/>
              </a:rPr>
              <a:t>3. Highest-contributing customers</a:t>
            </a:r>
            <a:endParaRPr lang="en-US" sz="1200" dirty="0"/>
          </a:p>
        </p:txBody>
      </p:sp>
      <p:sp>
        <p:nvSpPr>
          <p:cNvPr id="10" name="Text 8"/>
          <p:cNvSpPr/>
          <p:nvPr/>
        </p:nvSpPr>
        <p:spPr>
          <a:xfrm>
            <a:off x="548640" y="4617720"/>
            <a:ext cx="3291840" cy="320040"/>
          </a:xfrm>
          <a:prstGeom prst="rect">
            <a:avLst/>
          </a:prstGeom>
          <a:noFill/>
          <a:ln/>
        </p:spPr>
        <p:txBody>
          <a:bodyPr wrap="square" rtlCol="0" anchor="ctr"/>
          <a:lstStyle/>
          <a:p>
            <a:pPr marL="0" indent="0">
              <a:buNone/>
            </a:pPr>
            <a:r>
              <a:rPr lang="en-US" sz="1200" dirty="0">
                <a:solidFill>
                  <a:srgbClr val="2A1338"/>
                </a:solidFill>
                <a:latin typeface="Calibri" pitchFamily="34" charset="0"/>
                <a:ea typeface="Calibri" pitchFamily="34" charset="-122"/>
                <a:cs typeface="Calibri" pitchFamily="34" charset="-120"/>
              </a:rPr>
              <a:t>4. Monthly sales trends</a:t>
            </a:r>
            <a:endParaRPr lang="en-US" sz="1200" dirty="0"/>
          </a:p>
        </p:txBody>
      </p:sp>
      <p:sp>
        <p:nvSpPr>
          <p:cNvPr id="11" name="Text 9"/>
          <p:cNvSpPr/>
          <p:nvPr/>
        </p:nvSpPr>
        <p:spPr>
          <a:xfrm>
            <a:off x="548640" y="4983480"/>
            <a:ext cx="3291840" cy="320040"/>
          </a:xfrm>
          <a:prstGeom prst="rect">
            <a:avLst/>
          </a:prstGeom>
          <a:noFill/>
          <a:ln/>
        </p:spPr>
        <p:txBody>
          <a:bodyPr wrap="square" rtlCol="0" anchor="ctr"/>
          <a:lstStyle/>
          <a:p>
            <a:pPr marL="0" indent="0">
              <a:buNone/>
            </a:pPr>
            <a:r>
              <a:rPr lang="en-US" sz="1200" dirty="0">
                <a:solidFill>
                  <a:srgbClr val="2A1338"/>
                </a:solidFill>
                <a:latin typeface="Calibri" pitchFamily="34" charset="0"/>
                <a:ea typeface="Calibri" pitchFamily="34" charset="-122"/>
                <a:cs typeface="Calibri" pitchFamily="34" charset="-120"/>
              </a:rPr>
              <a:t>5. Highest / lowest rated products</a:t>
            </a:r>
            <a:endParaRPr lang="en-US" sz="1200" dirty="0"/>
          </a:p>
        </p:txBody>
      </p:sp>
      <p:sp>
        <p:nvSpPr>
          <p:cNvPr id="12" name="Text 10"/>
          <p:cNvSpPr/>
          <p:nvPr/>
        </p:nvSpPr>
        <p:spPr>
          <a:xfrm>
            <a:off x="3931920" y="3520440"/>
            <a:ext cx="3291840" cy="320040"/>
          </a:xfrm>
          <a:prstGeom prst="rect">
            <a:avLst/>
          </a:prstGeom>
          <a:noFill/>
          <a:ln/>
        </p:spPr>
        <p:txBody>
          <a:bodyPr wrap="square" rtlCol="0" anchor="ctr"/>
          <a:lstStyle/>
          <a:p>
            <a:pPr marL="0" indent="0">
              <a:buNone/>
            </a:pPr>
            <a:r>
              <a:rPr lang="en-US" sz="1200" dirty="0">
                <a:solidFill>
                  <a:srgbClr val="2A1338"/>
                </a:solidFill>
                <a:latin typeface="Calibri" pitchFamily="34" charset="0"/>
                <a:ea typeface="Calibri" pitchFamily="34" charset="-122"/>
                <a:cs typeface="Calibri" pitchFamily="34" charset="-120"/>
              </a:rPr>
              <a:t>6. Regional purchasing patterns</a:t>
            </a:r>
            <a:endParaRPr lang="en-US" sz="1200" dirty="0"/>
          </a:p>
        </p:txBody>
      </p:sp>
      <p:sp>
        <p:nvSpPr>
          <p:cNvPr id="13" name="Text 11"/>
          <p:cNvSpPr/>
          <p:nvPr/>
        </p:nvSpPr>
        <p:spPr>
          <a:xfrm>
            <a:off x="3931920" y="3886200"/>
            <a:ext cx="3291840" cy="320040"/>
          </a:xfrm>
          <a:prstGeom prst="rect">
            <a:avLst/>
          </a:prstGeom>
          <a:noFill/>
          <a:ln/>
        </p:spPr>
        <p:txBody>
          <a:bodyPr wrap="square" rtlCol="0" anchor="ctr"/>
          <a:lstStyle/>
          <a:p>
            <a:pPr marL="0" indent="0">
              <a:buNone/>
            </a:pPr>
            <a:r>
              <a:rPr lang="en-US" sz="1200" dirty="0">
                <a:solidFill>
                  <a:srgbClr val="2A1338"/>
                </a:solidFill>
                <a:latin typeface="Calibri" pitchFamily="34" charset="0"/>
                <a:ea typeface="Calibri" pitchFamily="34" charset="-122"/>
                <a:cs typeface="Calibri" pitchFamily="34" charset="-120"/>
              </a:rPr>
              <a:t>7. Frequently purchased products</a:t>
            </a:r>
            <a:endParaRPr lang="en-US" sz="1200" dirty="0"/>
          </a:p>
        </p:txBody>
      </p:sp>
      <p:sp>
        <p:nvSpPr>
          <p:cNvPr id="14" name="Text 12"/>
          <p:cNvSpPr/>
          <p:nvPr/>
        </p:nvSpPr>
        <p:spPr>
          <a:xfrm>
            <a:off x="3931920" y="4251960"/>
            <a:ext cx="3291840" cy="320040"/>
          </a:xfrm>
          <a:prstGeom prst="rect">
            <a:avLst/>
          </a:prstGeom>
          <a:noFill/>
          <a:ln/>
        </p:spPr>
        <p:txBody>
          <a:bodyPr wrap="square" rtlCol="0" anchor="ctr"/>
          <a:lstStyle/>
          <a:p>
            <a:pPr marL="0" indent="0">
              <a:buNone/>
            </a:pPr>
            <a:r>
              <a:rPr lang="en-US" sz="1200" dirty="0">
                <a:solidFill>
                  <a:srgbClr val="2A1338"/>
                </a:solidFill>
                <a:latin typeface="Calibri" pitchFamily="34" charset="0"/>
                <a:ea typeface="Calibri" pitchFamily="34" charset="-122"/>
                <a:cs typeface="Calibri" pitchFamily="34" charset="-120"/>
              </a:rPr>
              <a:t>8. Categories needing attention</a:t>
            </a:r>
            <a:endParaRPr lang="en-US" sz="1200" dirty="0"/>
          </a:p>
        </p:txBody>
      </p:sp>
      <p:sp>
        <p:nvSpPr>
          <p:cNvPr id="15" name="Text 13"/>
          <p:cNvSpPr/>
          <p:nvPr/>
        </p:nvSpPr>
        <p:spPr>
          <a:xfrm>
            <a:off x="3931920" y="4617720"/>
            <a:ext cx="3291840" cy="320040"/>
          </a:xfrm>
          <a:prstGeom prst="rect">
            <a:avLst/>
          </a:prstGeom>
          <a:noFill/>
          <a:ln/>
        </p:spPr>
        <p:txBody>
          <a:bodyPr wrap="square" rtlCol="0" anchor="ctr"/>
          <a:lstStyle/>
          <a:p>
            <a:pPr marL="0" indent="0">
              <a:buNone/>
            </a:pPr>
            <a:r>
              <a:rPr lang="en-US" sz="1200" dirty="0">
                <a:solidFill>
                  <a:srgbClr val="2A1338"/>
                </a:solidFill>
                <a:latin typeface="Calibri" pitchFamily="34" charset="0"/>
                <a:ea typeface="Calibri" pitchFamily="34" charset="-122"/>
                <a:cs typeface="Calibri" pitchFamily="34" charset="-120"/>
              </a:rPr>
              <a:t>9. Drivers of customer satisfaction</a:t>
            </a:r>
            <a:endParaRPr lang="en-US" sz="1200" dirty="0"/>
          </a:p>
        </p:txBody>
      </p:sp>
      <p:sp>
        <p:nvSpPr>
          <p:cNvPr id="16" name="Text 14"/>
          <p:cNvSpPr/>
          <p:nvPr/>
        </p:nvSpPr>
        <p:spPr>
          <a:xfrm>
            <a:off x="3931920" y="4983480"/>
            <a:ext cx="3291840" cy="320040"/>
          </a:xfrm>
          <a:prstGeom prst="rect">
            <a:avLst/>
          </a:prstGeom>
          <a:noFill/>
          <a:ln/>
        </p:spPr>
        <p:txBody>
          <a:bodyPr wrap="square" rtlCol="0" anchor="ctr"/>
          <a:lstStyle/>
          <a:p>
            <a:pPr marL="0" indent="0">
              <a:buNone/>
            </a:pPr>
            <a:r>
              <a:rPr lang="en-US" sz="1200" dirty="0">
                <a:solidFill>
                  <a:srgbClr val="2A1338"/>
                </a:solidFill>
                <a:latin typeface="Calibri" pitchFamily="34" charset="0"/>
                <a:ea typeface="Calibri" pitchFamily="34" charset="-122"/>
                <a:cs typeface="Calibri" pitchFamily="34" charset="-120"/>
              </a:rPr>
              <a:t>10. Business recommendations</a:t>
            </a:r>
            <a:endParaRPr lang="en-US" sz="1200" dirty="0"/>
          </a:p>
        </p:txBody>
      </p:sp>
      <p:sp>
        <p:nvSpPr>
          <p:cNvPr id="17" name="Shape 15"/>
          <p:cNvSpPr/>
          <p:nvPr/>
        </p:nvSpPr>
        <p:spPr>
          <a:xfrm>
            <a:off x="7589520" y="1508760"/>
            <a:ext cx="4023360" cy="4572000"/>
          </a:xfrm>
          <a:prstGeom prst="roundRect">
            <a:avLst>
              <a:gd name="adj" fmla="val 2727"/>
            </a:avLst>
          </a:prstGeom>
          <a:solidFill>
            <a:srgbClr val="3B1656"/>
          </a:solidFill>
          <a:ln/>
        </p:spPr>
        <p:txBody>
          <a:bodyPr/>
          <a:lstStyle/>
          <a:p>
            <a:endParaRPr lang="en-IN"/>
          </a:p>
        </p:txBody>
      </p:sp>
      <p:sp>
        <p:nvSpPr>
          <p:cNvPr id="18" name="Text 16"/>
          <p:cNvSpPr/>
          <p:nvPr/>
        </p:nvSpPr>
        <p:spPr>
          <a:xfrm>
            <a:off x="7863840" y="1783080"/>
            <a:ext cx="3474720" cy="274320"/>
          </a:xfrm>
          <a:prstGeom prst="rect">
            <a:avLst/>
          </a:prstGeom>
          <a:noFill/>
          <a:ln/>
        </p:spPr>
        <p:txBody>
          <a:bodyPr wrap="square" rtlCol="0" anchor="ctr"/>
          <a:lstStyle/>
          <a:p>
            <a:pPr marL="0" indent="0">
              <a:buNone/>
            </a:pPr>
            <a:r>
              <a:rPr lang="en-US" sz="1100" b="1" kern="0" spc="150" dirty="0">
                <a:solidFill>
                  <a:srgbClr val="F0A93A"/>
                </a:solidFill>
                <a:latin typeface="Calibri" pitchFamily="34" charset="0"/>
                <a:ea typeface="Calibri" pitchFamily="34" charset="-122"/>
                <a:cs typeface="Calibri" pitchFamily="34" charset="-120"/>
              </a:rPr>
              <a:t>SCALE OF THE DATA</a:t>
            </a:r>
            <a:endParaRPr lang="en-US" sz="1100" dirty="0"/>
          </a:p>
        </p:txBody>
      </p:sp>
      <p:sp>
        <p:nvSpPr>
          <p:cNvPr id="19" name="Text 17"/>
          <p:cNvSpPr/>
          <p:nvPr/>
        </p:nvSpPr>
        <p:spPr>
          <a:xfrm>
            <a:off x="7863840" y="2240280"/>
            <a:ext cx="347472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96K</a:t>
            </a:r>
            <a:endParaRPr lang="en-US" sz="2800" dirty="0"/>
          </a:p>
        </p:txBody>
      </p:sp>
      <p:sp>
        <p:nvSpPr>
          <p:cNvPr id="20" name="Text 18"/>
          <p:cNvSpPr/>
          <p:nvPr/>
        </p:nvSpPr>
        <p:spPr>
          <a:xfrm>
            <a:off x="7863840" y="2697480"/>
            <a:ext cx="3474720" cy="274320"/>
          </a:xfrm>
          <a:prstGeom prst="rect">
            <a:avLst/>
          </a:prstGeom>
          <a:noFill/>
          <a:ln/>
        </p:spPr>
        <p:txBody>
          <a:bodyPr wrap="square" rtlCol="0" anchor="ctr"/>
          <a:lstStyle/>
          <a:p>
            <a:pPr marL="0" indent="0">
              <a:buNone/>
            </a:pPr>
            <a:r>
              <a:rPr lang="en-US" sz="1200" dirty="0">
                <a:solidFill>
                  <a:srgbClr val="D9C7E8"/>
                </a:solidFill>
                <a:latin typeface="Calibri" pitchFamily="34" charset="0"/>
                <a:ea typeface="Calibri" pitchFamily="34" charset="-122"/>
                <a:cs typeface="Calibri" pitchFamily="34" charset="-120"/>
              </a:rPr>
              <a:t>Orders analyzed</a:t>
            </a:r>
            <a:endParaRPr lang="en-US" sz="1200" dirty="0"/>
          </a:p>
        </p:txBody>
      </p:sp>
      <p:sp>
        <p:nvSpPr>
          <p:cNvPr id="21" name="Text 19"/>
          <p:cNvSpPr/>
          <p:nvPr/>
        </p:nvSpPr>
        <p:spPr>
          <a:xfrm>
            <a:off x="7863840" y="3200400"/>
            <a:ext cx="347472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96K</a:t>
            </a:r>
            <a:endParaRPr lang="en-US" sz="2800" dirty="0"/>
          </a:p>
        </p:txBody>
      </p:sp>
      <p:sp>
        <p:nvSpPr>
          <p:cNvPr id="22" name="Text 20"/>
          <p:cNvSpPr/>
          <p:nvPr/>
        </p:nvSpPr>
        <p:spPr>
          <a:xfrm>
            <a:off x="7863840" y="3657600"/>
            <a:ext cx="3474720" cy="274320"/>
          </a:xfrm>
          <a:prstGeom prst="rect">
            <a:avLst/>
          </a:prstGeom>
          <a:noFill/>
          <a:ln/>
        </p:spPr>
        <p:txBody>
          <a:bodyPr wrap="square" rtlCol="0" anchor="ctr"/>
          <a:lstStyle/>
          <a:p>
            <a:pPr marL="0" indent="0">
              <a:buNone/>
            </a:pPr>
            <a:r>
              <a:rPr lang="en-US" sz="1200" dirty="0">
                <a:solidFill>
                  <a:srgbClr val="D9C7E8"/>
                </a:solidFill>
                <a:latin typeface="Calibri" pitchFamily="34" charset="0"/>
                <a:ea typeface="Calibri" pitchFamily="34" charset="-122"/>
                <a:cs typeface="Calibri" pitchFamily="34" charset="-120"/>
              </a:rPr>
              <a:t>Customers</a:t>
            </a:r>
            <a:endParaRPr lang="en-US" sz="1200" dirty="0"/>
          </a:p>
        </p:txBody>
      </p:sp>
      <p:sp>
        <p:nvSpPr>
          <p:cNvPr id="23" name="Text 21"/>
          <p:cNvSpPr/>
          <p:nvPr/>
        </p:nvSpPr>
        <p:spPr>
          <a:xfrm>
            <a:off x="7863840" y="4160520"/>
            <a:ext cx="347472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₹135.9L</a:t>
            </a:r>
            <a:endParaRPr lang="en-US" sz="2800" dirty="0"/>
          </a:p>
        </p:txBody>
      </p:sp>
      <p:sp>
        <p:nvSpPr>
          <p:cNvPr id="24" name="Text 22"/>
          <p:cNvSpPr/>
          <p:nvPr/>
        </p:nvSpPr>
        <p:spPr>
          <a:xfrm>
            <a:off x="7863840" y="4617720"/>
            <a:ext cx="3474720" cy="274320"/>
          </a:xfrm>
          <a:prstGeom prst="rect">
            <a:avLst/>
          </a:prstGeom>
          <a:noFill/>
          <a:ln/>
        </p:spPr>
        <p:txBody>
          <a:bodyPr wrap="square" rtlCol="0" anchor="ctr"/>
          <a:lstStyle/>
          <a:p>
            <a:pPr marL="0" indent="0">
              <a:buNone/>
            </a:pPr>
            <a:r>
              <a:rPr lang="en-US" sz="1200" dirty="0">
                <a:solidFill>
                  <a:srgbClr val="D9C7E8"/>
                </a:solidFill>
                <a:latin typeface="Calibri" pitchFamily="34" charset="0"/>
                <a:ea typeface="Calibri" pitchFamily="34" charset="-122"/>
                <a:cs typeface="Calibri" pitchFamily="34" charset="-120"/>
              </a:rPr>
              <a:t>Total revenue (13.59M)</a:t>
            </a:r>
            <a:endParaRPr lang="en-US" sz="1200" dirty="0"/>
          </a:p>
        </p:txBody>
      </p:sp>
      <p:sp>
        <p:nvSpPr>
          <p:cNvPr id="25" name="Text 23"/>
          <p:cNvSpPr/>
          <p:nvPr/>
        </p:nvSpPr>
        <p:spPr>
          <a:xfrm>
            <a:off x="7863840" y="5120640"/>
            <a:ext cx="347472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71</a:t>
            </a:r>
            <a:endParaRPr lang="en-US" sz="2800" dirty="0"/>
          </a:p>
        </p:txBody>
      </p:sp>
      <p:sp>
        <p:nvSpPr>
          <p:cNvPr id="26" name="Text 24"/>
          <p:cNvSpPr/>
          <p:nvPr/>
        </p:nvSpPr>
        <p:spPr>
          <a:xfrm>
            <a:off x="7863840" y="5577840"/>
            <a:ext cx="3474720" cy="274320"/>
          </a:xfrm>
          <a:prstGeom prst="rect">
            <a:avLst/>
          </a:prstGeom>
          <a:noFill/>
          <a:ln/>
        </p:spPr>
        <p:txBody>
          <a:bodyPr wrap="square" rtlCol="0" anchor="ctr"/>
          <a:lstStyle/>
          <a:p>
            <a:pPr marL="0" indent="0">
              <a:buNone/>
            </a:pPr>
            <a:r>
              <a:rPr lang="en-US" sz="1200" dirty="0">
                <a:solidFill>
                  <a:srgbClr val="D9C7E8"/>
                </a:solidFill>
                <a:latin typeface="Calibri" pitchFamily="34" charset="0"/>
                <a:ea typeface="Calibri" pitchFamily="34" charset="-122"/>
                <a:cs typeface="Calibri" pitchFamily="34" charset="-120"/>
              </a:rPr>
              <a:t>Product categories</a:t>
            </a:r>
            <a:endParaRPr lang="en-US" sz="1200" dirty="0"/>
          </a:p>
        </p:txBody>
      </p:sp>
      <p:sp>
        <p:nvSpPr>
          <p:cNvPr id="28" name="Text 25"/>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5878"/>
                </a:solidFill>
                <a:latin typeface="Calibri" pitchFamily="34" charset="0"/>
                <a:ea typeface="Calibri" pitchFamily="34" charset="-122"/>
                <a:cs typeface="Calibri" pitchFamily="34" charset="-120"/>
              </a:rPr>
              <a:t>03</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7A3E9D"/>
                </a:solidFill>
                <a:latin typeface="Calibri" pitchFamily="34" charset="0"/>
                <a:ea typeface="Calibri" pitchFamily="34" charset="-122"/>
                <a:cs typeface="Calibri" pitchFamily="34" charset="-120"/>
              </a:rPr>
              <a:t>METHODOLOGY  •  STEP 1</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2A1338"/>
                </a:solidFill>
                <a:latin typeface="Cambria" pitchFamily="34" charset="0"/>
                <a:ea typeface="Cambria" pitchFamily="34" charset="-122"/>
                <a:cs typeface="Cambria" pitchFamily="34" charset="-120"/>
              </a:rPr>
              <a:t>Data Preparation</a:t>
            </a:r>
            <a:endParaRPr lang="en-US" sz="3000" dirty="0"/>
          </a:p>
        </p:txBody>
      </p:sp>
      <p:sp>
        <p:nvSpPr>
          <p:cNvPr id="4" name="Text 2"/>
          <p:cNvSpPr/>
          <p:nvPr/>
        </p:nvSpPr>
        <p:spPr>
          <a:xfrm>
            <a:off x="548640" y="1325880"/>
            <a:ext cx="10881360" cy="457200"/>
          </a:xfrm>
          <a:prstGeom prst="rect">
            <a:avLst/>
          </a:prstGeom>
          <a:noFill/>
          <a:ln/>
        </p:spPr>
        <p:txBody>
          <a:bodyPr wrap="square" rtlCol="0" anchor="ctr"/>
          <a:lstStyle/>
          <a:p>
            <a:pPr marL="0" indent="0">
              <a:buNone/>
            </a:pPr>
            <a:r>
              <a:rPr lang="en-US" sz="1350" i="1" dirty="0">
                <a:solidFill>
                  <a:srgbClr val="6B5878"/>
                </a:solidFill>
                <a:latin typeface="Calibri" pitchFamily="34" charset="0"/>
                <a:ea typeface="Calibri" pitchFamily="34" charset="-122"/>
                <a:cs typeface="Calibri" pitchFamily="34" charset="-120"/>
              </a:rPr>
              <a:t>In plain terms: the raw files were messy and disconnected — before any chart could be built, they had to be cleaned and made trustworthy.</a:t>
            </a:r>
            <a:endParaRPr lang="en-US" sz="1350" dirty="0"/>
          </a:p>
        </p:txBody>
      </p:sp>
      <p:sp>
        <p:nvSpPr>
          <p:cNvPr id="5" name="Shape 3"/>
          <p:cNvSpPr/>
          <p:nvPr/>
        </p:nvSpPr>
        <p:spPr>
          <a:xfrm>
            <a:off x="548640" y="1965960"/>
            <a:ext cx="10881360" cy="713232"/>
          </a:xfrm>
          <a:prstGeom prst="roundRect">
            <a:avLst>
              <a:gd name="adj" fmla="val 7692"/>
            </a:avLst>
          </a:prstGeom>
          <a:solidFill>
            <a:srgbClr val="E9DEF2"/>
          </a:solidFill>
          <a:ln/>
        </p:spPr>
        <p:txBody>
          <a:bodyPr/>
          <a:lstStyle/>
          <a:p>
            <a:endParaRPr lang="en-IN"/>
          </a:p>
        </p:txBody>
      </p:sp>
      <p:sp>
        <p:nvSpPr>
          <p:cNvPr id="6" name="Shape 4"/>
          <p:cNvSpPr/>
          <p:nvPr/>
        </p:nvSpPr>
        <p:spPr>
          <a:xfrm>
            <a:off x="777240" y="2093976"/>
            <a:ext cx="457200" cy="457200"/>
          </a:xfrm>
          <a:prstGeom prst="ellipse">
            <a:avLst/>
          </a:prstGeom>
          <a:solidFill>
            <a:srgbClr val="3B1656"/>
          </a:solidFill>
          <a:ln/>
        </p:spPr>
        <p:txBody>
          <a:bodyPr/>
          <a:lstStyle/>
          <a:p>
            <a:endParaRPr lang="en-IN"/>
          </a:p>
        </p:txBody>
      </p:sp>
      <p:sp>
        <p:nvSpPr>
          <p:cNvPr id="7" name="Text 5"/>
          <p:cNvSpPr/>
          <p:nvPr/>
        </p:nvSpPr>
        <p:spPr>
          <a:xfrm>
            <a:off x="777240" y="2093976"/>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508760" y="2020824"/>
            <a:ext cx="2834640" cy="502920"/>
          </a:xfrm>
          <a:prstGeom prst="rect">
            <a:avLst/>
          </a:prstGeom>
          <a:noFill/>
          <a:ln/>
        </p:spPr>
        <p:txBody>
          <a:bodyPr wrap="square" rtlCol="0" anchor="ctr"/>
          <a:lstStyle/>
          <a:p>
            <a:pPr marL="0" indent="0">
              <a:buNone/>
            </a:pPr>
            <a:r>
              <a:rPr lang="en-US" sz="1400" b="1" dirty="0">
                <a:solidFill>
                  <a:srgbClr val="3B1656"/>
                </a:solidFill>
                <a:latin typeface="Cambria" pitchFamily="34" charset="0"/>
                <a:ea typeface="Cambria" pitchFamily="34" charset="-122"/>
                <a:cs typeface="Cambria" pitchFamily="34" charset="-120"/>
              </a:rPr>
              <a:t>Import the data</a:t>
            </a:r>
            <a:endParaRPr lang="en-US" sz="1400" dirty="0"/>
          </a:p>
        </p:txBody>
      </p:sp>
      <p:sp>
        <p:nvSpPr>
          <p:cNvPr id="9" name="Text 7"/>
          <p:cNvSpPr/>
          <p:nvPr/>
        </p:nvSpPr>
        <p:spPr>
          <a:xfrm>
            <a:off x="4480560" y="1993392"/>
            <a:ext cx="6766560" cy="603504"/>
          </a:xfrm>
          <a:prstGeom prst="rect">
            <a:avLst/>
          </a:prstGeom>
          <a:noFill/>
          <a:ln/>
        </p:spPr>
        <p:txBody>
          <a:bodyPr wrap="square" rtlCol="0" anchor="ctr"/>
          <a:lstStyle/>
          <a:p>
            <a:pPr marL="0" indent="0">
              <a:lnSpc>
                <a:spcPts val="1400"/>
              </a:lnSpc>
              <a:buNone/>
            </a:pPr>
            <a:r>
              <a:rPr lang="en-US" sz="1150" dirty="0">
                <a:solidFill>
                  <a:srgbClr val="2A1338"/>
                </a:solidFill>
                <a:latin typeface="Calibri" pitchFamily="34" charset="0"/>
                <a:ea typeface="Calibri" pitchFamily="34" charset="-122"/>
                <a:cs typeface="Calibri" pitchFamily="34" charset="-120"/>
              </a:rPr>
              <a:t>Imported all 9 raw CSV tables — orders, order items, payments, reviews, customers, products, sellers, geolocation, and category translations — into Power Query, Power BI's built-in data-loading and cleaning workspace.</a:t>
            </a:r>
            <a:endParaRPr lang="en-US" sz="1150" dirty="0"/>
          </a:p>
        </p:txBody>
      </p:sp>
      <p:sp>
        <p:nvSpPr>
          <p:cNvPr id="10" name="Shape 8"/>
          <p:cNvSpPr/>
          <p:nvPr/>
        </p:nvSpPr>
        <p:spPr>
          <a:xfrm>
            <a:off x="548640" y="2807208"/>
            <a:ext cx="10881360" cy="713232"/>
          </a:xfrm>
          <a:prstGeom prst="roundRect">
            <a:avLst>
              <a:gd name="adj" fmla="val 7692"/>
            </a:avLst>
          </a:prstGeom>
          <a:solidFill>
            <a:srgbClr val="FBF9FD"/>
          </a:solidFill>
          <a:ln/>
        </p:spPr>
        <p:txBody>
          <a:bodyPr/>
          <a:lstStyle/>
          <a:p>
            <a:endParaRPr lang="en-IN"/>
          </a:p>
        </p:txBody>
      </p:sp>
      <p:sp>
        <p:nvSpPr>
          <p:cNvPr id="11" name="Shape 9"/>
          <p:cNvSpPr/>
          <p:nvPr/>
        </p:nvSpPr>
        <p:spPr>
          <a:xfrm>
            <a:off x="777240" y="2935224"/>
            <a:ext cx="457200" cy="457200"/>
          </a:xfrm>
          <a:prstGeom prst="ellipse">
            <a:avLst/>
          </a:prstGeom>
          <a:solidFill>
            <a:srgbClr val="3B1656"/>
          </a:solidFill>
          <a:ln/>
        </p:spPr>
        <p:txBody>
          <a:bodyPr/>
          <a:lstStyle/>
          <a:p>
            <a:endParaRPr lang="en-IN"/>
          </a:p>
        </p:txBody>
      </p:sp>
      <p:sp>
        <p:nvSpPr>
          <p:cNvPr id="12" name="Text 10"/>
          <p:cNvSpPr/>
          <p:nvPr/>
        </p:nvSpPr>
        <p:spPr>
          <a:xfrm>
            <a:off x="777240" y="293522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508760" y="2862072"/>
            <a:ext cx="2834640" cy="502920"/>
          </a:xfrm>
          <a:prstGeom prst="rect">
            <a:avLst/>
          </a:prstGeom>
          <a:noFill/>
          <a:ln/>
        </p:spPr>
        <p:txBody>
          <a:bodyPr wrap="square" rtlCol="0" anchor="ctr"/>
          <a:lstStyle/>
          <a:p>
            <a:pPr marL="0" indent="0">
              <a:buNone/>
            </a:pPr>
            <a:r>
              <a:rPr lang="en-US" sz="1400" b="1" dirty="0">
                <a:solidFill>
                  <a:srgbClr val="3B1656"/>
                </a:solidFill>
                <a:latin typeface="Cambria" pitchFamily="34" charset="0"/>
                <a:ea typeface="Cambria" pitchFamily="34" charset="-122"/>
                <a:cs typeface="Cambria" pitchFamily="34" charset="-120"/>
              </a:rPr>
              <a:t>Fixed the data types</a:t>
            </a:r>
            <a:endParaRPr lang="en-US" sz="1400" dirty="0"/>
          </a:p>
        </p:txBody>
      </p:sp>
      <p:sp>
        <p:nvSpPr>
          <p:cNvPr id="14" name="Text 12"/>
          <p:cNvSpPr/>
          <p:nvPr/>
        </p:nvSpPr>
        <p:spPr>
          <a:xfrm>
            <a:off x="4480560" y="2834640"/>
            <a:ext cx="6766560" cy="603504"/>
          </a:xfrm>
          <a:prstGeom prst="rect">
            <a:avLst/>
          </a:prstGeom>
          <a:noFill/>
          <a:ln/>
        </p:spPr>
        <p:txBody>
          <a:bodyPr wrap="square" rtlCol="0" anchor="ctr"/>
          <a:lstStyle/>
          <a:p>
            <a:pPr marL="0" indent="0">
              <a:lnSpc>
                <a:spcPts val="1400"/>
              </a:lnSpc>
              <a:buNone/>
            </a:pPr>
            <a:r>
              <a:rPr lang="en-US" sz="1150" dirty="0">
                <a:solidFill>
                  <a:srgbClr val="2A1338"/>
                </a:solidFill>
                <a:latin typeface="Calibri" pitchFamily="34" charset="0"/>
                <a:ea typeface="Calibri" pitchFamily="34" charset="-122"/>
                <a:cs typeface="Calibri" pitchFamily="34" charset="-120"/>
              </a:rPr>
              <a:t>Dates were stored as plain text, so I converted purchase, delivery and review dates into proper Date/Time fields — this is what makes trend charts and delivery-time calculations possible.</a:t>
            </a:r>
            <a:endParaRPr lang="en-US" sz="1150" dirty="0"/>
          </a:p>
        </p:txBody>
      </p:sp>
      <p:sp>
        <p:nvSpPr>
          <p:cNvPr id="15" name="Shape 13"/>
          <p:cNvSpPr/>
          <p:nvPr/>
        </p:nvSpPr>
        <p:spPr>
          <a:xfrm>
            <a:off x="548640" y="3648456"/>
            <a:ext cx="10881360" cy="713232"/>
          </a:xfrm>
          <a:prstGeom prst="roundRect">
            <a:avLst>
              <a:gd name="adj" fmla="val 7692"/>
            </a:avLst>
          </a:prstGeom>
          <a:solidFill>
            <a:srgbClr val="E9DEF2"/>
          </a:solidFill>
          <a:ln/>
        </p:spPr>
        <p:txBody>
          <a:bodyPr/>
          <a:lstStyle/>
          <a:p>
            <a:endParaRPr lang="en-IN"/>
          </a:p>
        </p:txBody>
      </p:sp>
      <p:sp>
        <p:nvSpPr>
          <p:cNvPr id="16" name="Shape 14"/>
          <p:cNvSpPr/>
          <p:nvPr/>
        </p:nvSpPr>
        <p:spPr>
          <a:xfrm>
            <a:off x="777240" y="3776472"/>
            <a:ext cx="457200" cy="457200"/>
          </a:xfrm>
          <a:prstGeom prst="ellipse">
            <a:avLst/>
          </a:prstGeom>
          <a:solidFill>
            <a:srgbClr val="3B1656"/>
          </a:solidFill>
          <a:ln/>
        </p:spPr>
        <p:txBody>
          <a:bodyPr/>
          <a:lstStyle/>
          <a:p>
            <a:endParaRPr lang="en-IN"/>
          </a:p>
        </p:txBody>
      </p:sp>
      <p:sp>
        <p:nvSpPr>
          <p:cNvPr id="17" name="Text 15"/>
          <p:cNvSpPr/>
          <p:nvPr/>
        </p:nvSpPr>
        <p:spPr>
          <a:xfrm>
            <a:off x="777240" y="3776472"/>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508760" y="3703320"/>
            <a:ext cx="2834640" cy="502920"/>
          </a:xfrm>
          <a:prstGeom prst="rect">
            <a:avLst/>
          </a:prstGeom>
          <a:noFill/>
          <a:ln/>
        </p:spPr>
        <p:txBody>
          <a:bodyPr wrap="square" rtlCol="0" anchor="ctr"/>
          <a:lstStyle/>
          <a:p>
            <a:pPr marL="0" indent="0">
              <a:buNone/>
            </a:pPr>
            <a:r>
              <a:rPr lang="en-US" sz="1400" b="1" dirty="0">
                <a:solidFill>
                  <a:srgbClr val="3B1656"/>
                </a:solidFill>
                <a:latin typeface="Cambria" pitchFamily="34" charset="0"/>
                <a:ea typeface="Cambria" pitchFamily="34" charset="-122"/>
                <a:cs typeface="Cambria" pitchFamily="34" charset="-120"/>
              </a:rPr>
              <a:t>Translated categories</a:t>
            </a:r>
            <a:endParaRPr lang="en-US" sz="1400" dirty="0"/>
          </a:p>
        </p:txBody>
      </p:sp>
      <p:sp>
        <p:nvSpPr>
          <p:cNvPr id="19" name="Text 17"/>
          <p:cNvSpPr/>
          <p:nvPr/>
        </p:nvSpPr>
        <p:spPr>
          <a:xfrm>
            <a:off x="4480560" y="3675888"/>
            <a:ext cx="6766560" cy="603504"/>
          </a:xfrm>
          <a:prstGeom prst="rect">
            <a:avLst/>
          </a:prstGeom>
          <a:noFill/>
          <a:ln/>
        </p:spPr>
        <p:txBody>
          <a:bodyPr wrap="square" rtlCol="0" anchor="ctr"/>
          <a:lstStyle/>
          <a:p>
            <a:pPr marL="0" indent="0">
              <a:lnSpc>
                <a:spcPts val="1400"/>
              </a:lnSpc>
              <a:buNone/>
            </a:pPr>
            <a:r>
              <a:rPr lang="en-US" sz="1150" dirty="0">
                <a:solidFill>
                  <a:srgbClr val="2A1338"/>
                </a:solidFill>
                <a:latin typeface="Calibri" pitchFamily="34" charset="0"/>
                <a:ea typeface="Calibri" pitchFamily="34" charset="-122"/>
                <a:cs typeface="Calibri" pitchFamily="34" charset="-120"/>
              </a:rPr>
              <a:t>Product categories were only in Portuguese. I merged in the English translation table so every chart reads clearly for a business audience.</a:t>
            </a:r>
            <a:endParaRPr lang="en-US" sz="1150" dirty="0"/>
          </a:p>
        </p:txBody>
      </p:sp>
      <p:sp>
        <p:nvSpPr>
          <p:cNvPr id="20" name="Shape 18"/>
          <p:cNvSpPr/>
          <p:nvPr/>
        </p:nvSpPr>
        <p:spPr>
          <a:xfrm>
            <a:off x="548640" y="4489704"/>
            <a:ext cx="10881360" cy="713232"/>
          </a:xfrm>
          <a:prstGeom prst="roundRect">
            <a:avLst>
              <a:gd name="adj" fmla="val 7692"/>
            </a:avLst>
          </a:prstGeom>
          <a:solidFill>
            <a:srgbClr val="FBF9FD"/>
          </a:solidFill>
          <a:ln/>
        </p:spPr>
        <p:txBody>
          <a:bodyPr/>
          <a:lstStyle/>
          <a:p>
            <a:endParaRPr lang="en-IN"/>
          </a:p>
        </p:txBody>
      </p:sp>
      <p:sp>
        <p:nvSpPr>
          <p:cNvPr id="21" name="Shape 19"/>
          <p:cNvSpPr/>
          <p:nvPr/>
        </p:nvSpPr>
        <p:spPr>
          <a:xfrm>
            <a:off x="777240" y="4617720"/>
            <a:ext cx="457200" cy="457200"/>
          </a:xfrm>
          <a:prstGeom prst="ellipse">
            <a:avLst/>
          </a:prstGeom>
          <a:solidFill>
            <a:srgbClr val="3B1656"/>
          </a:solidFill>
          <a:ln/>
        </p:spPr>
        <p:txBody>
          <a:bodyPr/>
          <a:lstStyle/>
          <a:p>
            <a:endParaRPr lang="en-IN"/>
          </a:p>
        </p:txBody>
      </p:sp>
      <p:sp>
        <p:nvSpPr>
          <p:cNvPr id="22" name="Text 20"/>
          <p:cNvSpPr/>
          <p:nvPr/>
        </p:nvSpPr>
        <p:spPr>
          <a:xfrm>
            <a:off x="777240" y="461772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1508760" y="4544568"/>
            <a:ext cx="2834640" cy="502920"/>
          </a:xfrm>
          <a:prstGeom prst="rect">
            <a:avLst/>
          </a:prstGeom>
          <a:noFill/>
          <a:ln/>
        </p:spPr>
        <p:txBody>
          <a:bodyPr wrap="square" rtlCol="0" anchor="ctr"/>
          <a:lstStyle/>
          <a:p>
            <a:pPr marL="0" indent="0">
              <a:buNone/>
            </a:pPr>
            <a:r>
              <a:rPr lang="en-US" sz="1400" b="1" dirty="0">
                <a:solidFill>
                  <a:srgbClr val="3B1656"/>
                </a:solidFill>
                <a:latin typeface="Cambria" pitchFamily="34" charset="0"/>
                <a:ea typeface="Cambria" pitchFamily="34" charset="-122"/>
                <a:cs typeface="Cambria" pitchFamily="34" charset="-120"/>
              </a:rPr>
              <a:t>Fixed a bloated table</a:t>
            </a:r>
            <a:endParaRPr lang="en-US" sz="1400" dirty="0"/>
          </a:p>
        </p:txBody>
      </p:sp>
      <p:sp>
        <p:nvSpPr>
          <p:cNvPr id="24" name="Text 22"/>
          <p:cNvSpPr/>
          <p:nvPr/>
        </p:nvSpPr>
        <p:spPr>
          <a:xfrm>
            <a:off x="4480560" y="4517136"/>
            <a:ext cx="6766560" cy="603504"/>
          </a:xfrm>
          <a:prstGeom prst="rect">
            <a:avLst/>
          </a:prstGeom>
          <a:noFill/>
          <a:ln/>
        </p:spPr>
        <p:txBody>
          <a:bodyPr wrap="square" rtlCol="0" anchor="ctr"/>
          <a:lstStyle/>
          <a:p>
            <a:pPr marL="0" indent="0">
              <a:lnSpc>
                <a:spcPts val="1400"/>
              </a:lnSpc>
              <a:buNone/>
            </a:pPr>
            <a:r>
              <a:rPr lang="en-US" sz="1150" dirty="0">
                <a:solidFill>
                  <a:srgbClr val="2A1338"/>
                </a:solidFill>
                <a:latin typeface="Calibri" pitchFamily="34" charset="0"/>
                <a:ea typeface="Calibri" pitchFamily="34" charset="-122"/>
                <a:cs typeface="Calibri" pitchFamily="34" charset="-120"/>
              </a:rPr>
              <a:t>The geolocation file had over a million repeated rows for the same zip codes. I grouped it down to one averaged row per zip code — needed to make the map visual work correctly.</a:t>
            </a:r>
            <a:endParaRPr lang="en-US" sz="1150" dirty="0"/>
          </a:p>
        </p:txBody>
      </p:sp>
      <p:sp>
        <p:nvSpPr>
          <p:cNvPr id="25" name="Shape 23"/>
          <p:cNvSpPr/>
          <p:nvPr/>
        </p:nvSpPr>
        <p:spPr>
          <a:xfrm>
            <a:off x="548640" y="5330952"/>
            <a:ext cx="10881360" cy="713232"/>
          </a:xfrm>
          <a:prstGeom prst="roundRect">
            <a:avLst>
              <a:gd name="adj" fmla="val 7692"/>
            </a:avLst>
          </a:prstGeom>
          <a:solidFill>
            <a:srgbClr val="E9DEF2"/>
          </a:solidFill>
          <a:ln/>
        </p:spPr>
        <p:txBody>
          <a:bodyPr/>
          <a:lstStyle/>
          <a:p>
            <a:endParaRPr lang="en-IN"/>
          </a:p>
        </p:txBody>
      </p:sp>
      <p:sp>
        <p:nvSpPr>
          <p:cNvPr id="26" name="Shape 24"/>
          <p:cNvSpPr/>
          <p:nvPr/>
        </p:nvSpPr>
        <p:spPr>
          <a:xfrm>
            <a:off x="777240" y="5458968"/>
            <a:ext cx="457200" cy="457200"/>
          </a:xfrm>
          <a:prstGeom prst="ellipse">
            <a:avLst/>
          </a:prstGeom>
          <a:solidFill>
            <a:srgbClr val="3B1656"/>
          </a:solidFill>
          <a:ln/>
        </p:spPr>
        <p:txBody>
          <a:bodyPr/>
          <a:lstStyle/>
          <a:p>
            <a:endParaRPr lang="en-IN"/>
          </a:p>
        </p:txBody>
      </p:sp>
      <p:sp>
        <p:nvSpPr>
          <p:cNvPr id="27" name="Text 25"/>
          <p:cNvSpPr/>
          <p:nvPr/>
        </p:nvSpPr>
        <p:spPr>
          <a:xfrm>
            <a:off x="777240" y="545896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1508760" y="5385816"/>
            <a:ext cx="2834640" cy="502920"/>
          </a:xfrm>
          <a:prstGeom prst="rect">
            <a:avLst/>
          </a:prstGeom>
          <a:noFill/>
          <a:ln/>
        </p:spPr>
        <p:txBody>
          <a:bodyPr wrap="square" rtlCol="0" anchor="ctr"/>
          <a:lstStyle/>
          <a:p>
            <a:pPr marL="0" indent="0">
              <a:buNone/>
            </a:pPr>
            <a:r>
              <a:rPr lang="en-US" sz="1400" b="1" dirty="0">
                <a:solidFill>
                  <a:srgbClr val="3B1656"/>
                </a:solidFill>
                <a:latin typeface="Cambria" pitchFamily="34" charset="0"/>
                <a:ea typeface="Cambria" pitchFamily="34" charset="-122"/>
                <a:cs typeface="Cambria" pitchFamily="34" charset="-120"/>
              </a:rPr>
              <a:t>Removed noise</a:t>
            </a:r>
            <a:endParaRPr lang="en-US" sz="1400" dirty="0"/>
          </a:p>
        </p:txBody>
      </p:sp>
      <p:sp>
        <p:nvSpPr>
          <p:cNvPr id="29" name="Text 27"/>
          <p:cNvSpPr/>
          <p:nvPr/>
        </p:nvSpPr>
        <p:spPr>
          <a:xfrm>
            <a:off x="4480560" y="5358384"/>
            <a:ext cx="6766560" cy="603504"/>
          </a:xfrm>
          <a:prstGeom prst="rect">
            <a:avLst/>
          </a:prstGeom>
          <a:noFill/>
          <a:ln/>
        </p:spPr>
        <p:txBody>
          <a:bodyPr wrap="square" rtlCol="0" anchor="ctr"/>
          <a:lstStyle/>
          <a:p>
            <a:pPr marL="0" indent="0">
              <a:lnSpc>
                <a:spcPts val="1400"/>
              </a:lnSpc>
              <a:buNone/>
            </a:pPr>
            <a:r>
              <a:rPr lang="en-US" sz="1150" dirty="0">
                <a:solidFill>
                  <a:srgbClr val="2A1338"/>
                </a:solidFill>
                <a:latin typeface="Calibri" pitchFamily="34" charset="0"/>
                <a:ea typeface="Calibri" pitchFamily="34" charset="-122"/>
                <a:cs typeface="Calibri" pitchFamily="34" charset="-120"/>
              </a:rPr>
              <a:t>Cleaned duplicate reviews and trimmed stray spaces/typos from city and state names so grouping and filtering work correctly.</a:t>
            </a:r>
            <a:endParaRPr lang="en-US" sz="1150" dirty="0"/>
          </a:p>
        </p:txBody>
      </p:sp>
      <p:sp>
        <p:nvSpPr>
          <p:cNvPr id="31" name="Text 28"/>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5878"/>
                </a:solidFill>
                <a:latin typeface="Calibri" pitchFamily="34" charset="0"/>
                <a:ea typeface="Calibri" pitchFamily="34" charset="-122"/>
                <a:cs typeface="Calibri" pitchFamily="34" charset="-120"/>
              </a:rPr>
              <a:t>04</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7A3E9D"/>
                </a:solidFill>
                <a:latin typeface="Calibri" pitchFamily="34" charset="0"/>
                <a:ea typeface="Calibri" pitchFamily="34" charset="-122"/>
                <a:cs typeface="Calibri" pitchFamily="34" charset="-120"/>
              </a:rPr>
              <a:t>METHODOLOGY  •  STEP 2</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2A1338"/>
                </a:solidFill>
                <a:latin typeface="Cambria" pitchFamily="34" charset="0"/>
                <a:ea typeface="Cambria" pitchFamily="34" charset="-122"/>
                <a:cs typeface="Cambria" pitchFamily="34" charset="-120"/>
              </a:rPr>
              <a:t>Data Modeling</a:t>
            </a:r>
            <a:endParaRPr lang="en-US" sz="3000" dirty="0"/>
          </a:p>
        </p:txBody>
      </p:sp>
      <p:sp>
        <p:nvSpPr>
          <p:cNvPr id="4" name="Text 2"/>
          <p:cNvSpPr/>
          <p:nvPr/>
        </p:nvSpPr>
        <p:spPr>
          <a:xfrm>
            <a:off x="548640" y="1325880"/>
            <a:ext cx="10881360" cy="411480"/>
          </a:xfrm>
          <a:prstGeom prst="rect">
            <a:avLst/>
          </a:prstGeom>
          <a:noFill/>
          <a:ln/>
        </p:spPr>
        <p:txBody>
          <a:bodyPr wrap="square" rtlCol="0" anchor="ctr"/>
          <a:lstStyle/>
          <a:p>
            <a:pPr marL="0" indent="0">
              <a:buNone/>
            </a:pPr>
            <a:r>
              <a:rPr lang="en-US" sz="1350" i="1" dirty="0">
                <a:solidFill>
                  <a:srgbClr val="6B5878"/>
                </a:solidFill>
                <a:latin typeface="Calibri" pitchFamily="34" charset="0"/>
                <a:ea typeface="Calibri" pitchFamily="34" charset="-122"/>
                <a:cs typeface="Calibri" pitchFamily="34" charset="-120"/>
              </a:rPr>
              <a:t>All 9 tables were connected into a star schema — a hub-and-spoke layout with one central fact table surrounded by supporting lookup tables.</a:t>
            </a:r>
            <a:endParaRPr lang="en-US" sz="1350" dirty="0"/>
          </a:p>
        </p:txBody>
      </p:sp>
      <p:sp>
        <p:nvSpPr>
          <p:cNvPr id="5" name="Shape 3"/>
          <p:cNvSpPr/>
          <p:nvPr/>
        </p:nvSpPr>
        <p:spPr>
          <a:xfrm>
            <a:off x="548640" y="1874520"/>
            <a:ext cx="6949440" cy="4480560"/>
          </a:xfrm>
          <a:prstGeom prst="roundRect">
            <a:avLst>
              <a:gd name="adj" fmla="val 1224"/>
            </a:avLst>
          </a:prstGeom>
          <a:solidFill>
            <a:srgbClr val="FFFFFF"/>
          </a:solidFill>
          <a:ln w="19050">
            <a:solidFill>
              <a:srgbClr val="7A3E9D"/>
            </a:solidFill>
            <a:prstDash val="solid"/>
          </a:ln>
        </p:spPr>
        <p:txBody>
          <a:bodyPr/>
          <a:lstStyle/>
          <a:p>
            <a:endParaRPr lang="en-IN"/>
          </a:p>
        </p:txBody>
      </p:sp>
      <p:pic>
        <p:nvPicPr>
          <p:cNvPr id="6" name="Image 0" descr="/home/claude/ppt/model_view.png"/>
          <p:cNvPicPr>
            <a:picLocks noChangeAspect="1"/>
          </p:cNvPicPr>
          <p:nvPr/>
        </p:nvPicPr>
        <p:blipFill>
          <a:blip r:embed="rId3"/>
          <a:stretch>
            <a:fillRect/>
          </a:stretch>
        </p:blipFill>
        <p:spPr>
          <a:xfrm>
            <a:off x="640080" y="1965960"/>
            <a:ext cx="6766560" cy="3374136"/>
          </a:xfrm>
          <a:prstGeom prst="rect">
            <a:avLst/>
          </a:prstGeom>
        </p:spPr>
      </p:pic>
      <p:sp>
        <p:nvSpPr>
          <p:cNvPr id="7" name="Text 4"/>
          <p:cNvSpPr/>
          <p:nvPr/>
        </p:nvSpPr>
        <p:spPr>
          <a:xfrm>
            <a:off x="640080" y="5394960"/>
            <a:ext cx="6766560" cy="274320"/>
          </a:xfrm>
          <a:prstGeom prst="rect">
            <a:avLst/>
          </a:prstGeom>
          <a:noFill/>
          <a:ln/>
        </p:spPr>
        <p:txBody>
          <a:bodyPr wrap="square" rtlCol="0" anchor="ctr"/>
          <a:lstStyle/>
          <a:p>
            <a:pPr marL="0" indent="0" algn="ctr">
              <a:buNone/>
            </a:pPr>
            <a:r>
              <a:rPr lang="en-US" sz="1050" i="1" dirty="0">
                <a:solidFill>
                  <a:srgbClr val="6B5878"/>
                </a:solidFill>
                <a:latin typeface="Calibri" pitchFamily="34" charset="0"/>
                <a:ea typeface="Calibri" pitchFamily="34" charset="-122"/>
                <a:cs typeface="Calibri" pitchFamily="34" charset="-120"/>
              </a:rPr>
              <a:t>Actual Power BI Model View</a:t>
            </a:r>
            <a:endParaRPr lang="en-US" sz="1050" dirty="0"/>
          </a:p>
        </p:txBody>
      </p:sp>
      <p:sp>
        <p:nvSpPr>
          <p:cNvPr id="8" name="Shape 5"/>
          <p:cNvSpPr/>
          <p:nvPr/>
        </p:nvSpPr>
        <p:spPr>
          <a:xfrm>
            <a:off x="7680960" y="1874520"/>
            <a:ext cx="3931920" cy="4480560"/>
          </a:xfrm>
          <a:prstGeom prst="roundRect">
            <a:avLst>
              <a:gd name="adj" fmla="val 2326"/>
            </a:avLst>
          </a:prstGeom>
          <a:solidFill>
            <a:srgbClr val="3B1656"/>
          </a:solidFill>
          <a:ln/>
        </p:spPr>
        <p:txBody>
          <a:bodyPr/>
          <a:lstStyle/>
          <a:p>
            <a:endParaRPr lang="en-IN"/>
          </a:p>
        </p:txBody>
      </p:sp>
      <p:sp>
        <p:nvSpPr>
          <p:cNvPr id="9" name="Text 6"/>
          <p:cNvSpPr/>
          <p:nvPr/>
        </p:nvSpPr>
        <p:spPr>
          <a:xfrm>
            <a:off x="7909560" y="2084832"/>
            <a:ext cx="3474720" cy="274320"/>
          </a:xfrm>
          <a:prstGeom prst="rect">
            <a:avLst/>
          </a:prstGeom>
          <a:noFill/>
          <a:ln/>
        </p:spPr>
        <p:txBody>
          <a:bodyPr wrap="square" rtlCol="0" anchor="ctr"/>
          <a:lstStyle/>
          <a:p>
            <a:pPr marL="0" indent="0">
              <a:buNone/>
            </a:pPr>
            <a:r>
              <a:rPr lang="en-US" sz="1100" b="1" kern="0" spc="120" dirty="0">
                <a:solidFill>
                  <a:srgbClr val="F0A93A"/>
                </a:solidFill>
                <a:latin typeface="Calibri" pitchFamily="34" charset="0"/>
                <a:ea typeface="Calibri" pitchFamily="34" charset="-122"/>
                <a:cs typeface="Calibri" pitchFamily="34" charset="-120"/>
              </a:rPr>
              <a:t>HOW TO READ THIS</a:t>
            </a:r>
            <a:endParaRPr lang="en-US" sz="1100" dirty="0"/>
          </a:p>
        </p:txBody>
      </p:sp>
      <p:sp>
        <p:nvSpPr>
          <p:cNvPr id="10" name="Text 7"/>
          <p:cNvSpPr/>
          <p:nvPr/>
        </p:nvSpPr>
        <p:spPr>
          <a:xfrm>
            <a:off x="7909560" y="2514600"/>
            <a:ext cx="347472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Order_items = the center</a:t>
            </a:r>
            <a:endParaRPr lang="en-US" sz="1300" dirty="0"/>
          </a:p>
        </p:txBody>
      </p:sp>
      <p:sp>
        <p:nvSpPr>
          <p:cNvPr id="11" name="Text 8"/>
          <p:cNvSpPr/>
          <p:nvPr/>
        </p:nvSpPr>
        <p:spPr>
          <a:xfrm>
            <a:off x="7909560" y="2807208"/>
            <a:ext cx="3474720" cy="68580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This is the fact table — it holds one row per product sold and sits at the middle of the model.</a:t>
            </a:r>
            <a:endParaRPr lang="en-US" sz="1050" dirty="0"/>
          </a:p>
        </p:txBody>
      </p:sp>
      <p:sp>
        <p:nvSpPr>
          <p:cNvPr id="12" name="Text 9"/>
          <p:cNvSpPr/>
          <p:nvPr/>
        </p:nvSpPr>
        <p:spPr>
          <a:xfrm>
            <a:off x="7909560" y="3520440"/>
            <a:ext cx="347472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Surrounding tables = context</a:t>
            </a:r>
            <a:endParaRPr lang="en-US" sz="1300" dirty="0"/>
          </a:p>
        </p:txBody>
      </p:sp>
      <p:sp>
        <p:nvSpPr>
          <p:cNvPr id="13" name="Text 10"/>
          <p:cNvSpPr/>
          <p:nvPr/>
        </p:nvSpPr>
        <p:spPr>
          <a:xfrm>
            <a:off x="7909560" y="3813048"/>
            <a:ext cx="3474720" cy="68580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Orders, Customers, Products, Sellers, Payments, Reviews, Geolocation and DateTable each add detail to every sale.</a:t>
            </a:r>
            <a:endParaRPr lang="en-US" sz="1050" dirty="0"/>
          </a:p>
        </p:txBody>
      </p:sp>
      <p:sp>
        <p:nvSpPr>
          <p:cNvPr id="14" name="Text 11"/>
          <p:cNvSpPr/>
          <p:nvPr/>
        </p:nvSpPr>
        <p:spPr>
          <a:xfrm>
            <a:off x="7909560" y="4526280"/>
            <a:ext cx="347472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Lines = relationships</a:t>
            </a:r>
            <a:endParaRPr lang="en-US" sz="1300" dirty="0"/>
          </a:p>
        </p:txBody>
      </p:sp>
      <p:sp>
        <p:nvSpPr>
          <p:cNvPr id="15" name="Text 12"/>
          <p:cNvSpPr/>
          <p:nvPr/>
        </p:nvSpPr>
        <p:spPr>
          <a:xfrm>
            <a:off x="7909560" y="4818888"/>
            <a:ext cx="3474720" cy="68580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Each connecting line lets a filter (like a slicer) flow from one table into another automatically.</a:t>
            </a:r>
            <a:endParaRPr lang="en-US" sz="1050" dirty="0"/>
          </a:p>
        </p:txBody>
      </p:sp>
      <p:sp>
        <p:nvSpPr>
          <p:cNvPr id="16" name="Text 13"/>
          <p:cNvSpPr/>
          <p:nvPr/>
        </p:nvSpPr>
        <p:spPr>
          <a:xfrm>
            <a:off x="7909560" y="5532120"/>
            <a:ext cx="347472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Why it matters</a:t>
            </a:r>
            <a:endParaRPr lang="en-US" sz="1300" dirty="0"/>
          </a:p>
        </p:txBody>
      </p:sp>
      <p:sp>
        <p:nvSpPr>
          <p:cNvPr id="17" name="Text 14"/>
          <p:cNvSpPr/>
          <p:nvPr/>
        </p:nvSpPr>
        <p:spPr>
          <a:xfrm>
            <a:off x="7909560" y="5824728"/>
            <a:ext cx="3474720" cy="68580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This layout is what lets one click — say, filtering by state — instantly update every chart on the dashboard at once.</a:t>
            </a:r>
            <a:endParaRPr lang="en-US" sz="1050" dirty="0"/>
          </a:p>
        </p:txBody>
      </p:sp>
      <p:sp>
        <p:nvSpPr>
          <p:cNvPr id="19" name="Text 15"/>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5878"/>
                </a:solidFill>
                <a:latin typeface="Calibri" pitchFamily="34" charset="0"/>
                <a:ea typeface="Calibri" pitchFamily="34" charset="-122"/>
                <a:cs typeface="Calibri" pitchFamily="34" charset="-120"/>
              </a:rPr>
              <a:t>05</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7A3E9D"/>
                </a:solidFill>
                <a:latin typeface="Calibri" pitchFamily="34" charset="0"/>
                <a:ea typeface="Calibri" pitchFamily="34" charset="-122"/>
                <a:cs typeface="Calibri" pitchFamily="34" charset="-120"/>
              </a:rPr>
              <a:t>METHODOLOGY  •  STEP 3</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2A1338"/>
                </a:solidFill>
                <a:latin typeface="Cambria" pitchFamily="34" charset="0"/>
                <a:ea typeface="Cambria" pitchFamily="34" charset="-122"/>
                <a:cs typeface="Cambria" pitchFamily="34" charset="-120"/>
              </a:rPr>
              <a:t>DAX Measures</a:t>
            </a:r>
            <a:endParaRPr lang="en-US" sz="3000" dirty="0"/>
          </a:p>
        </p:txBody>
      </p:sp>
      <p:sp>
        <p:nvSpPr>
          <p:cNvPr id="4" name="Text 2"/>
          <p:cNvSpPr/>
          <p:nvPr/>
        </p:nvSpPr>
        <p:spPr>
          <a:xfrm>
            <a:off x="548640" y="1325880"/>
            <a:ext cx="10881360" cy="411480"/>
          </a:xfrm>
          <a:prstGeom prst="rect">
            <a:avLst/>
          </a:prstGeom>
          <a:noFill/>
          <a:ln/>
        </p:spPr>
        <p:txBody>
          <a:bodyPr wrap="square" rtlCol="0" anchor="ctr"/>
          <a:lstStyle/>
          <a:p>
            <a:pPr marL="0" indent="0">
              <a:buNone/>
            </a:pPr>
            <a:r>
              <a:rPr lang="en-US" sz="1350" i="1" dirty="0">
                <a:solidFill>
                  <a:srgbClr val="6B5878"/>
                </a:solidFill>
                <a:latin typeface="Calibri" pitchFamily="34" charset="0"/>
                <a:ea typeface="Calibri" pitchFamily="34" charset="-122"/>
                <a:cs typeface="Calibri" pitchFamily="34" charset="-120"/>
              </a:rPr>
              <a:t>DAX measures are the formulas behind every number on the dashboard. Each one takes raw columns and turns them into a business metric.</a:t>
            </a:r>
            <a:endParaRPr lang="en-US" sz="1350" dirty="0"/>
          </a:p>
        </p:txBody>
      </p:sp>
      <p:sp>
        <p:nvSpPr>
          <p:cNvPr id="5" name="Shape 3"/>
          <p:cNvSpPr/>
          <p:nvPr/>
        </p:nvSpPr>
        <p:spPr>
          <a:xfrm>
            <a:off x="548640" y="1874520"/>
            <a:ext cx="5440680" cy="960120"/>
          </a:xfrm>
          <a:prstGeom prst="roundRect">
            <a:avLst>
              <a:gd name="adj" fmla="val 6667"/>
            </a:avLst>
          </a:prstGeom>
          <a:solidFill>
            <a:srgbClr val="E9DEF2"/>
          </a:solidFill>
          <a:ln w="9525">
            <a:solidFill>
              <a:srgbClr val="D9C0E8"/>
            </a:solidFill>
            <a:prstDash val="solid"/>
          </a:ln>
        </p:spPr>
        <p:txBody>
          <a:bodyPr/>
          <a:lstStyle/>
          <a:p>
            <a:endParaRPr lang="en-IN"/>
          </a:p>
        </p:txBody>
      </p:sp>
      <p:sp>
        <p:nvSpPr>
          <p:cNvPr id="6" name="Text 4"/>
          <p:cNvSpPr/>
          <p:nvPr/>
        </p:nvSpPr>
        <p:spPr>
          <a:xfrm>
            <a:off x="749808" y="1965960"/>
            <a:ext cx="5038344" cy="256032"/>
          </a:xfrm>
          <a:prstGeom prst="rect">
            <a:avLst/>
          </a:prstGeom>
          <a:noFill/>
          <a:ln/>
        </p:spPr>
        <p:txBody>
          <a:bodyPr wrap="square" rtlCol="0" anchor="ctr"/>
          <a:lstStyle/>
          <a:p>
            <a:pPr marL="0" indent="0">
              <a:buNone/>
            </a:pPr>
            <a:r>
              <a:rPr lang="en-US" sz="1350" b="1" dirty="0">
                <a:solidFill>
                  <a:srgbClr val="3B1656"/>
                </a:solidFill>
                <a:latin typeface="Cambria" pitchFamily="34" charset="0"/>
                <a:ea typeface="Cambria" pitchFamily="34" charset="-122"/>
                <a:cs typeface="Cambria" pitchFamily="34" charset="-120"/>
              </a:rPr>
              <a:t>Total Revenue</a:t>
            </a:r>
            <a:endParaRPr lang="en-US" sz="1350" dirty="0"/>
          </a:p>
        </p:txBody>
      </p:sp>
      <p:sp>
        <p:nvSpPr>
          <p:cNvPr id="7" name="Text 5"/>
          <p:cNvSpPr/>
          <p:nvPr/>
        </p:nvSpPr>
        <p:spPr>
          <a:xfrm>
            <a:off x="749808" y="2221992"/>
            <a:ext cx="5038344" cy="219456"/>
          </a:xfrm>
          <a:prstGeom prst="rect">
            <a:avLst/>
          </a:prstGeom>
          <a:noFill/>
          <a:ln/>
        </p:spPr>
        <p:txBody>
          <a:bodyPr wrap="square" rtlCol="0" anchor="ctr"/>
          <a:lstStyle/>
          <a:p>
            <a:pPr marL="0" indent="0">
              <a:buNone/>
            </a:pPr>
            <a:r>
              <a:rPr lang="en-US" sz="950" dirty="0">
                <a:solidFill>
                  <a:srgbClr val="7A3E9D"/>
                </a:solidFill>
                <a:latin typeface="Courier New" pitchFamily="34" charset="0"/>
                <a:ea typeface="Courier New" pitchFamily="34" charset="-122"/>
                <a:cs typeface="Courier New" pitchFamily="34" charset="-120"/>
              </a:rPr>
              <a:t>SUM(Order_items[price])</a:t>
            </a:r>
            <a:endParaRPr lang="en-US" sz="950" dirty="0"/>
          </a:p>
        </p:txBody>
      </p:sp>
      <p:sp>
        <p:nvSpPr>
          <p:cNvPr id="8" name="Text 6"/>
          <p:cNvSpPr/>
          <p:nvPr/>
        </p:nvSpPr>
        <p:spPr>
          <a:xfrm>
            <a:off x="749808" y="2450592"/>
            <a:ext cx="5038344" cy="347472"/>
          </a:xfrm>
          <a:prstGeom prst="rect">
            <a:avLst/>
          </a:prstGeom>
          <a:noFill/>
          <a:ln/>
        </p:spPr>
        <p:txBody>
          <a:bodyPr wrap="square" rtlCol="0" anchor="ctr"/>
          <a:lstStyle/>
          <a:p>
            <a:pPr marL="0" indent="0">
              <a:lnSpc>
                <a:spcPts val="1200"/>
              </a:lnSpc>
              <a:buNone/>
            </a:pPr>
            <a:r>
              <a:rPr lang="en-US" sz="1000" dirty="0">
                <a:solidFill>
                  <a:srgbClr val="2A1338"/>
                </a:solidFill>
                <a:latin typeface="Calibri" pitchFamily="34" charset="0"/>
                <a:ea typeface="Calibri" pitchFamily="34" charset="-122"/>
                <a:cs typeface="Calibri" pitchFamily="34" charset="-120"/>
              </a:rPr>
              <a:t>The single most important number — total money earned from all sales.</a:t>
            </a:r>
            <a:endParaRPr lang="en-US" sz="1000" dirty="0"/>
          </a:p>
        </p:txBody>
      </p:sp>
      <p:sp>
        <p:nvSpPr>
          <p:cNvPr id="9" name="Shape 7"/>
          <p:cNvSpPr/>
          <p:nvPr/>
        </p:nvSpPr>
        <p:spPr>
          <a:xfrm>
            <a:off x="548640" y="2962656"/>
            <a:ext cx="5440680" cy="960120"/>
          </a:xfrm>
          <a:prstGeom prst="roundRect">
            <a:avLst>
              <a:gd name="adj" fmla="val 6667"/>
            </a:avLst>
          </a:prstGeom>
          <a:solidFill>
            <a:srgbClr val="FBF9FD"/>
          </a:solidFill>
          <a:ln w="9525">
            <a:solidFill>
              <a:srgbClr val="D9C0E8"/>
            </a:solidFill>
            <a:prstDash val="solid"/>
          </a:ln>
        </p:spPr>
        <p:txBody>
          <a:bodyPr/>
          <a:lstStyle/>
          <a:p>
            <a:endParaRPr lang="en-IN"/>
          </a:p>
        </p:txBody>
      </p:sp>
      <p:sp>
        <p:nvSpPr>
          <p:cNvPr id="10" name="Text 8"/>
          <p:cNvSpPr/>
          <p:nvPr/>
        </p:nvSpPr>
        <p:spPr>
          <a:xfrm>
            <a:off x="749808" y="3054096"/>
            <a:ext cx="5038344" cy="256032"/>
          </a:xfrm>
          <a:prstGeom prst="rect">
            <a:avLst/>
          </a:prstGeom>
          <a:noFill/>
          <a:ln/>
        </p:spPr>
        <p:txBody>
          <a:bodyPr wrap="square" rtlCol="0" anchor="ctr"/>
          <a:lstStyle/>
          <a:p>
            <a:pPr marL="0" indent="0">
              <a:buNone/>
            </a:pPr>
            <a:r>
              <a:rPr lang="en-US" sz="1350" b="1" dirty="0">
                <a:solidFill>
                  <a:srgbClr val="3B1656"/>
                </a:solidFill>
                <a:latin typeface="Cambria" pitchFamily="34" charset="0"/>
                <a:ea typeface="Cambria" pitchFamily="34" charset="-122"/>
                <a:cs typeface="Cambria" pitchFamily="34" charset="-120"/>
              </a:rPr>
              <a:t>Avg Order Value</a:t>
            </a:r>
            <a:endParaRPr lang="en-US" sz="1350" dirty="0"/>
          </a:p>
        </p:txBody>
      </p:sp>
      <p:sp>
        <p:nvSpPr>
          <p:cNvPr id="11" name="Text 9"/>
          <p:cNvSpPr/>
          <p:nvPr/>
        </p:nvSpPr>
        <p:spPr>
          <a:xfrm>
            <a:off x="749808" y="3310128"/>
            <a:ext cx="5038344" cy="219456"/>
          </a:xfrm>
          <a:prstGeom prst="rect">
            <a:avLst/>
          </a:prstGeom>
          <a:noFill/>
          <a:ln/>
        </p:spPr>
        <p:txBody>
          <a:bodyPr wrap="square" rtlCol="0" anchor="ctr"/>
          <a:lstStyle/>
          <a:p>
            <a:pPr marL="0" indent="0">
              <a:buNone/>
            </a:pPr>
            <a:r>
              <a:rPr lang="en-US" sz="950" dirty="0">
                <a:solidFill>
                  <a:srgbClr val="7A3E9D"/>
                </a:solidFill>
                <a:latin typeface="Courier New" pitchFamily="34" charset="0"/>
                <a:ea typeface="Courier New" pitchFamily="34" charset="-122"/>
                <a:cs typeface="Courier New" pitchFamily="34" charset="-120"/>
              </a:rPr>
              <a:t>Total Revenue ÷ Order Count</a:t>
            </a:r>
            <a:endParaRPr lang="en-US" sz="950" dirty="0"/>
          </a:p>
        </p:txBody>
      </p:sp>
      <p:sp>
        <p:nvSpPr>
          <p:cNvPr id="12" name="Text 10"/>
          <p:cNvSpPr/>
          <p:nvPr/>
        </p:nvSpPr>
        <p:spPr>
          <a:xfrm>
            <a:off x="749808" y="3538728"/>
            <a:ext cx="5038344" cy="347472"/>
          </a:xfrm>
          <a:prstGeom prst="rect">
            <a:avLst/>
          </a:prstGeom>
          <a:noFill/>
          <a:ln/>
        </p:spPr>
        <p:txBody>
          <a:bodyPr wrap="square" rtlCol="0" anchor="ctr"/>
          <a:lstStyle/>
          <a:p>
            <a:pPr marL="0" indent="0">
              <a:lnSpc>
                <a:spcPts val="1200"/>
              </a:lnSpc>
              <a:buNone/>
            </a:pPr>
            <a:r>
              <a:rPr lang="en-US" sz="1000" dirty="0">
                <a:solidFill>
                  <a:srgbClr val="2A1338"/>
                </a:solidFill>
                <a:latin typeface="Calibri" pitchFamily="34" charset="0"/>
                <a:ea typeface="Calibri" pitchFamily="34" charset="-122"/>
                <a:cs typeface="Calibri" pitchFamily="34" charset="-120"/>
              </a:rPr>
              <a:t>How much a typical customer spends per order — useful for tracking basket size.</a:t>
            </a:r>
            <a:endParaRPr lang="en-US" sz="1000" dirty="0"/>
          </a:p>
        </p:txBody>
      </p:sp>
      <p:sp>
        <p:nvSpPr>
          <p:cNvPr id="13" name="Shape 11"/>
          <p:cNvSpPr/>
          <p:nvPr/>
        </p:nvSpPr>
        <p:spPr>
          <a:xfrm>
            <a:off x="548640" y="4050792"/>
            <a:ext cx="5440680" cy="960120"/>
          </a:xfrm>
          <a:prstGeom prst="roundRect">
            <a:avLst>
              <a:gd name="adj" fmla="val 6667"/>
            </a:avLst>
          </a:prstGeom>
          <a:solidFill>
            <a:srgbClr val="E9DEF2"/>
          </a:solidFill>
          <a:ln w="9525">
            <a:solidFill>
              <a:srgbClr val="D9C0E8"/>
            </a:solidFill>
            <a:prstDash val="solid"/>
          </a:ln>
        </p:spPr>
        <p:txBody>
          <a:bodyPr/>
          <a:lstStyle/>
          <a:p>
            <a:endParaRPr lang="en-IN"/>
          </a:p>
        </p:txBody>
      </p:sp>
      <p:sp>
        <p:nvSpPr>
          <p:cNvPr id="14" name="Text 12"/>
          <p:cNvSpPr/>
          <p:nvPr/>
        </p:nvSpPr>
        <p:spPr>
          <a:xfrm>
            <a:off x="749808" y="4142232"/>
            <a:ext cx="5038344" cy="256032"/>
          </a:xfrm>
          <a:prstGeom prst="rect">
            <a:avLst/>
          </a:prstGeom>
          <a:noFill/>
          <a:ln/>
        </p:spPr>
        <p:txBody>
          <a:bodyPr wrap="square" rtlCol="0" anchor="ctr"/>
          <a:lstStyle/>
          <a:p>
            <a:pPr marL="0" indent="0">
              <a:buNone/>
            </a:pPr>
            <a:r>
              <a:rPr lang="en-US" sz="1350" b="1" dirty="0">
                <a:solidFill>
                  <a:srgbClr val="3B1656"/>
                </a:solidFill>
                <a:latin typeface="Cambria" pitchFamily="34" charset="0"/>
                <a:ea typeface="Cambria" pitchFamily="34" charset="-122"/>
                <a:cs typeface="Cambria" pitchFamily="34" charset="-120"/>
              </a:rPr>
              <a:t>Order Count</a:t>
            </a:r>
            <a:endParaRPr lang="en-US" sz="1350" dirty="0"/>
          </a:p>
        </p:txBody>
      </p:sp>
      <p:sp>
        <p:nvSpPr>
          <p:cNvPr id="15" name="Text 13"/>
          <p:cNvSpPr/>
          <p:nvPr/>
        </p:nvSpPr>
        <p:spPr>
          <a:xfrm>
            <a:off x="749808" y="4398264"/>
            <a:ext cx="5038344" cy="219456"/>
          </a:xfrm>
          <a:prstGeom prst="rect">
            <a:avLst/>
          </a:prstGeom>
          <a:noFill/>
          <a:ln/>
        </p:spPr>
        <p:txBody>
          <a:bodyPr wrap="square" rtlCol="0" anchor="ctr"/>
          <a:lstStyle/>
          <a:p>
            <a:pPr marL="0" indent="0">
              <a:buNone/>
            </a:pPr>
            <a:r>
              <a:rPr lang="en-US" sz="950" dirty="0">
                <a:solidFill>
                  <a:srgbClr val="7A3E9D"/>
                </a:solidFill>
                <a:latin typeface="Courier New" pitchFamily="34" charset="0"/>
                <a:ea typeface="Courier New" pitchFamily="34" charset="-122"/>
                <a:cs typeface="Courier New" pitchFamily="34" charset="-120"/>
              </a:rPr>
              <a:t>DISTINCTCOUNT(Orders[order_id])</a:t>
            </a:r>
            <a:endParaRPr lang="en-US" sz="950" dirty="0"/>
          </a:p>
        </p:txBody>
      </p:sp>
      <p:sp>
        <p:nvSpPr>
          <p:cNvPr id="16" name="Text 14"/>
          <p:cNvSpPr/>
          <p:nvPr/>
        </p:nvSpPr>
        <p:spPr>
          <a:xfrm>
            <a:off x="749808" y="4626864"/>
            <a:ext cx="5038344" cy="347472"/>
          </a:xfrm>
          <a:prstGeom prst="rect">
            <a:avLst/>
          </a:prstGeom>
          <a:noFill/>
          <a:ln/>
        </p:spPr>
        <p:txBody>
          <a:bodyPr wrap="square" rtlCol="0" anchor="ctr"/>
          <a:lstStyle/>
          <a:p>
            <a:pPr marL="0" indent="0">
              <a:lnSpc>
                <a:spcPts val="1200"/>
              </a:lnSpc>
              <a:buNone/>
            </a:pPr>
            <a:r>
              <a:rPr lang="en-US" sz="1000" dirty="0">
                <a:solidFill>
                  <a:srgbClr val="2A1338"/>
                </a:solidFill>
                <a:latin typeface="Calibri" pitchFamily="34" charset="0"/>
                <a:ea typeface="Calibri" pitchFamily="34" charset="-122"/>
                <a:cs typeface="Calibri" pitchFamily="34" charset="-120"/>
              </a:rPr>
              <a:t>How many separate orders were placed — the volume behind the revenue.</a:t>
            </a:r>
            <a:endParaRPr lang="en-US" sz="1000" dirty="0"/>
          </a:p>
        </p:txBody>
      </p:sp>
      <p:sp>
        <p:nvSpPr>
          <p:cNvPr id="17" name="Shape 15"/>
          <p:cNvSpPr/>
          <p:nvPr/>
        </p:nvSpPr>
        <p:spPr>
          <a:xfrm>
            <a:off x="548640" y="5138928"/>
            <a:ext cx="5440680" cy="960120"/>
          </a:xfrm>
          <a:prstGeom prst="roundRect">
            <a:avLst>
              <a:gd name="adj" fmla="val 6667"/>
            </a:avLst>
          </a:prstGeom>
          <a:solidFill>
            <a:srgbClr val="FBF9FD"/>
          </a:solidFill>
          <a:ln w="9525">
            <a:solidFill>
              <a:srgbClr val="D9C0E8"/>
            </a:solidFill>
            <a:prstDash val="solid"/>
          </a:ln>
        </p:spPr>
        <p:txBody>
          <a:bodyPr/>
          <a:lstStyle/>
          <a:p>
            <a:endParaRPr lang="en-IN"/>
          </a:p>
        </p:txBody>
      </p:sp>
      <p:sp>
        <p:nvSpPr>
          <p:cNvPr id="18" name="Text 16"/>
          <p:cNvSpPr/>
          <p:nvPr/>
        </p:nvSpPr>
        <p:spPr>
          <a:xfrm>
            <a:off x="749808" y="5230368"/>
            <a:ext cx="5038344" cy="256032"/>
          </a:xfrm>
          <a:prstGeom prst="rect">
            <a:avLst/>
          </a:prstGeom>
          <a:noFill/>
          <a:ln/>
        </p:spPr>
        <p:txBody>
          <a:bodyPr wrap="square" rtlCol="0" anchor="ctr"/>
          <a:lstStyle/>
          <a:p>
            <a:pPr marL="0" indent="0">
              <a:buNone/>
            </a:pPr>
            <a:r>
              <a:rPr lang="en-US" sz="1350" b="1" dirty="0">
                <a:solidFill>
                  <a:srgbClr val="3B1656"/>
                </a:solidFill>
                <a:latin typeface="Cambria" pitchFamily="34" charset="0"/>
                <a:ea typeface="Cambria" pitchFamily="34" charset="-122"/>
                <a:cs typeface="Cambria" pitchFamily="34" charset="-120"/>
              </a:rPr>
              <a:t>Avg Review Score</a:t>
            </a:r>
            <a:endParaRPr lang="en-US" sz="1350" dirty="0"/>
          </a:p>
        </p:txBody>
      </p:sp>
      <p:sp>
        <p:nvSpPr>
          <p:cNvPr id="19" name="Text 17"/>
          <p:cNvSpPr/>
          <p:nvPr/>
        </p:nvSpPr>
        <p:spPr>
          <a:xfrm>
            <a:off x="749808" y="5486400"/>
            <a:ext cx="5038344" cy="219456"/>
          </a:xfrm>
          <a:prstGeom prst="rect">
            <a:avLst/>
          </a:prstGeom>
          <a:noFill/>
          <a:ln/>
        </p:spPr>
        <p:txBody>
          <a:bodyPr wrap="square" rtlCol="0" anchor="ctr"/>
          <a:lstStyle/>
          <a:p>
            <a:pPr marL="0" indent="0">
              <a:buNone/>
            </a:pPr>
            <a:r>
              <a:rPr lang="en-US" sz="950" dirty="0">
                <a:solidFill>
                  <a:srgbClr val="7A3E9D"/>
                </a:solidFill>
                <a:latin typeface="Courier New" pitchFamily="34" charset="0"/>
                <a:ea typeface="Courier New" pitchFamily="34" charset="-122"/>
                <a:cs typeface="Courier New" pitchFamily="34" charset="-120"/>
              </a:rPr>
              <a:t>AVERAGE(Order_reviews[review_score])</a:t>
            </a:r>
            <a:endParaRPr lang="en-US" sz="950" dirty="0"/>
          </a:p>
        </p:txBody>
      </p:sp>
      <p:sp>
        <p:nvSpPr>
          <p:cNvPr id="20" name="Text 18"/>
          <p:cNvSpPr/>
          <p:nvPr/>
        </p:nvSpPr>
        <p:spPr>
          <a:xfrm>
            <a:off x="749808" y="5715000"/>
            <a:ext cx="5038344" cy="347472"/>
          </a:xfrm>
          <a:prstGeom prst="rect">
            <a:avLst/>
          </a:prstGeom>
          <a:noFill/>
          <a:ln/>
        </p:spPr>
        <p:txBody>
          <a:bodyPr wrap="square" rtlCol="0" anchor="ctr"/>
          <a:lstStyle/>
          <a:p>
            <a:pPr marL="0" indent="0">
              <a:lnSpc>
                <a:spcPts val="1200"/>
              </a:lnSpc>
              <a:buNone/>
            </a:pPr>
            <a:r>
              <a:rPr lang="en-US" sz="1000" dirty="0">
                <a:solidFill>
                  <a:srgbClr val="2A1338"/>
                </a:solidFill>
                <a:latin typeface="Calibri" pitchFamily="34" charset="0"/>
                <a:ea typeface="Calibri" pitchFamily="34" charset="-122"/>
                <a:cs typeface="Calibri" pitchFamily="34" charset="-120"/>
              </a:rPr>
              <a:t>The average customer satisfaction rating, on a 1-to-5 scale.</a:t>
            </a:r>
            <a:endParaRPr lang="en-US" sz="1000" dirty="0"/>
          </a:p>
        </p:txBody>
      </p:sp>
      <p:sp>
        <p:nvSpPr>
          <p:cNvPr id="21" name="Shape 19"/>
          <p:cNvSpPr/>
          <p:nvPr/>
        </p:nvSpPr>
        <p:spPr>
          <a:xfrm>
            <a:off x="6263640" y="1874520"/>
            <a:ext cx="5440680" cy="960120"/>
          </a:xfrm>
          <a:prstGeom prst="roundRect">
            <a:avLst>
              <a:gd name="adj" fmla="val 6667"/>
            </a:avLst>
          </a:prstGeom>
          <a:solidFill>
            <a:srgbClr val="E9DEF2"/>
          </a:solidFill>
          <a:ln w="9525">
            <a:solidFill>
              <a:srgbClr val="D9C0E8"/>
            </a:solidFill>
            <a:prstDash val="solid"/>
          </a:ln>
        </p:spPr>
        <p:txBody>
          <a:bodyPr/>
          <a:lstStyle/>
          <a:p>
            <a:endParaRPr lang="en-IN"/>
          </a:p>
        </p:txBody>
      </p:sp>
      <p:sp>
        <p:nvSpPr>
          <p:cNvPr id="22" name="Text 20"/>
          <p:cNvSpPr/>
          <p:nvPr/>
        </p:nvSpPr>
        <p:spPr>
          <a:xfrm>
            <a:off x="6464808" y="1965960"/>
            <a:ext cx="5038344" cy="256032"/>
          </a:xfrm>
          <a:prstGeom prst="rect">
            <a:avLst/>
          </a:prstGeom>
          <a:noFill/>
          <a:ln/>
        </p:spPr>
        <p:txBody>
          <a:bodyPr wrap="square" rtlCol="0" anchor="ctr"/>
          <a:lstStyle/>
          <a:p>
            <a:pPr marL="0" indent="0">
              <a:buNone/>
            </a:pPr>
            <a:r>
              <a:rPr lang="en-US" sz="1350" b="1" dirty="0">
                <a:solidFill>
                  <a:srgbClr val="3B1656"/>
                </a:solidFill>
                <a:latin typeface="Cambria" pitchFamily="34" charset="0"/>
                <a:ea typeface="Cambria" pitchFamily="34" charset="-122"/>
                <a:cs typeface="Cambria" pitchFamily="34" charset="-120"/>
              </a:rPr>
              <a:t>Avg Days Early/Late</a:t>
            </a:r>
            <a:endParaRPr lang="en-US" sz="1350" dirty="0"/>
          </a:p>
        </p:txBody>
      </p:sp>
      <p:sp>
        <p:nvSpPr>
          <p:cNvPr id="23" name="Text 21"/>
          <p:cNvSpPr/>
          <p:nvPr/>
        </p:nvSpPr>
        <p:spPr>
          <a:xfrm>
            <a:off x="6464808" y="2221992"/>
            <a:ext cx="5038344" cy="219456"/>
          </a:xfrm>
          <a:prstGeom prst="rect">
            <a:avLst/>
          </a:prstGeom>
          <a:noFill/>
          <a:ln/>
        </p:spPr>
        <p:txBody>
          <a:bodyPr wrap="square" rtlCol="0" anchor="ctr"/>
          <a:lstStyle/>
          <a:p>
            <a:pPr marL="0" indent="0">
              <a:buNone/>
            </a:pPr>
            <a:r>
              <a:rPr lang="en-US" sz="950" dirty="0">
                <a:solidFill>
                  <a:srgbClr val="7A3E9D"/>
                </a:solidFill>
                <a:latin typeface="Courier New" pitchFamily="34" charset="0"/>
                <a:ea typeface="Courier New" pitchFamily="34" charset="-122"/>
                <a:cs typeface="Courier New" pitchFamily="34" charset="-120"/>
              </a:rPr>
              <a:t>AVERAGEX over delivery vs. estimate</a:t>
            </a:r>
            <a:endParaRPr lang="en-US" sz="950" dirty="0"/>
          </a:p>
        </p:txBody>
      </p:sp>
      <p:sp>
        <p:nvSpPr>
          <p:cNvPr id="24" name="Text 22"/>
          <p:cNvSpPr/>
          <p:nvPr/>
        </p:nvSpPr>
        <p:spPr>
          <a:xfrm>
            <a:off x="6464808" y="2450592"/>
            <a:ext cx="5038344" cy="347472"/>
          </a:xfrm>
          <a:prstGeom prst="rect">
            <a:avLst/>
          </a:prstGeom>
          <a:noFill/>
          <a:ln/>
        </p:spPr>
        <p:txBody>
          <a:bodyPr wrap="square" rtlCol="0" anchor="ctr"/>
          <a:lstStyle/>
          <a:p>
            <a:pPr marL="0" indent="0">
              <a:lnSpc>
                <a:spcPts val="1200"/>
              </a:lnSpc>
              <a:buNone/>
            </a:pPr>
            <a:r>
              <a:rPr lang="en-US" sz="1000" dirty="0">
                <a:solidFill>
                  <a:srgbClr val="2A1338"/>
                </a:solidFill>
                <a:latin typeface="Calibri" pitchFamily="34" charset="0"/>
                <a:ea typeface="Calibri" pitchFamily="34" charset="-122"/>
                <a:cs typeface="Calibri" pitchFamily="34" charset="-120"/>
              </a:rPr>
              <a:t>Whether deliveries typically beat or miss their promised date.</a:t>
            </a:r>
            <a:endParaRPr lang="en-US" sz="1000" dirty="0"/>
          </a:p>
        </p:txBody>
      </p:sp>
      <p:sp>
        <p:nvSpPr>
          <p:cNvPr id="25" name="Shape 23"/>
          <p:cNvSpPr/>
          <p:nvPr/>
        </p:nvSpPr>
        <p:spPr>
          <a:xfrm>
            <a:off x="6263640" y="2962656"/>
            <a:ext cx="5440680" cy="960120"/>
          </a:xfrm>
          <a:prstGeom prst="roundRect">
            <a:avLst>
              <a:gd name="adj" fmla="val 6667"/>
            </a:avLst>
          </a:prstGeom>
          <a:solidFill>
            <a:srgbClr val="FBF9FD"/>
          </a:solidFill>
          <a:ln w="9525">
            <a:solidFill>
              <a:srgbClr val="D9C0E8"/>
            </a:solidFill>
            <a:prstDash val="solid"/>
          </a:ln>
        </p:spPr>
        <p:txBody>
          <a:bodyPr/>
          <a:lstStyle/>
          <a:p>
            <a:endParaRPr lang="en-IN"/>
          </a:p>
        </p:txBody>
      </p:sp>
      <p:sp>
        <p:nvSpPr>
          <p:cNvPr id="26" name="Text 24"/>
          <p:cNvSpPr/>
          <p:nvPr/>
        </p:nvSpPr>
        <p:spPr>
          <a:xfrm>
            <a:off x="6464808" y="3054096"/>
            <a:ext cx="5038344" cy="256032"/>
          </a:xfrm>
          <a:prstGeom prst="rect">
            <a:avLst/>
          </a:prstGeom>
          <a:noFill/>
          <a:ln/>
        </p:spPr>
        <p:txBody>
          <a:bodyPr wrap="square" rtlCol="0" anchor="ctr"/>
          <a:lstStyle/>
          <a:p>
            <a:pPr marL="0" indent="0">
              <a:buNone/>
            </a:pPr>
            <a:r>
              <a:rPr lang="en-US" sz="1350" b="1" dirty="0">
                <a:solidFill>
                  <a:srgbClr val="3B1656"/>
                </a:solidFill>
                <a:latin typeface="Cambria" pitchFamily="34" charset="0"/>
                <a:ea typeface="Cambria" pitchFamily="34" charset="-122"/>
                <a:cs typeface="Cambria" pitchFamily="34" charset="-120"/>
              </a:rPr>
              <a:t>Late Delivery %</a:t>
            </a:r>
            <a:endParaRPr lang="en-US" sz="1350" dirty="0"/>
          </a:p>
        </p:txBody>
      </p:sp>
      <p:sp>
        <p:nvSpPr>
          <p:cNvPr id="27" name="Text 25"/>
          <p:cNvSpPr/>
          <p:nvPr/>
        </p:nvSpPr>
        <p:spPr>
          <a:xfrm>
            <a:off x="6464808" y="3310128"/>
            <a:ext cx="5038344" cy="219456"/>
          </a:xfrm>
          <a:prstGeom prst="rect">
            <a:avLst/>
          </a:prstGeom>
          <a:noFill/>
          <a:ln/>
        </p:spPr>
        <p:txBody>
          <a:bodyPr wrap="square" rtlCol="0" anchor="ctr"/>
          <a:lstStyle/>
          <a:p>
            <a:pPr marL="0" indent="0">
              <a:buNone/>
            </a:pPr>
            <a:r>
              <a:rPr lang="en-US" sz="950" dirty="0">
                <a:solidFill>
                  <a:srgbClr val="7A3E9D"/>
                </a:solidFill>
                <a:latin typeface="Courier New" pitchFamily="34" charset="0"/>
                <a:ea typeface="Courier New" pitchFamily="34" charset="-122"/>
                <a:cs typeface="Courier New" pitchFamily="34" charset="-120"/>
              </a:rPr>
              <a:t>% of orders delivered after the estimate</a:t>
            </a:r>
            <a:endParaRPr lang="en-US" sz="950" dirty="0"/>
          </a:p>
        </p:txBody>
      </p:sp>
      <p:sp>
        <p:nvSpPr>
          <p:cNvPr id="28" name="Text 26"/>
          <p:cNvSpPr/>
          <p:nvPr/>
        </p:nvSpPr>
        <p:spPr>
          <a:xfrm>
            <a:off x="6464808" y="3538728"/>
            <a:ext cx="5038344" cy="347472"/>
          </a:xfrm>
          <a:prstGeom prst="rect">
            <a:avLst/>
          </a:prstGeom>
          <a:noFill/>
          <a:ln/>
        </p:spPr>
        <p:txBody>
          <a:bodyPr wrap="square" rtlCol="0" anchor="ctr"/>
          <a:lstStyle/>
          <a:p>
            <a:pPr marL="0" indent="0">
              <a:lnSpc>
                <a:spcPts val="1200"/>
              </a:lnSpc>
              <a:buNone/>
            </a:pPr>
            <a:r>
              <a:rPr lang="en-US" sz="1000" dirty="0">
                <a:solidFill>
                  <a:srgbClr val="2A1338"/>
                </a:solidFill>
                <a:latin typeface="Calibri" pitchFamily="34" charset="0"/>
                <a:ea typeface="Calibri" pitchFamily="34" charset="-122"/>
                <a:cs typeface="Calibri" pitchFamily="34" charset="-120"/>
              </a:rPr>
              <a:t>What share of orders disappoint customers on timing.</a:t>
            </a:r>
            <a:endParaRPr lang="en-US" sz="1000" dirty="0"/>
          </a:p>
        </p:txBody>
      </p:sp>
      <p:sp>
        <p:nvSpPr>
          <p:cNvPr id="29" name="Shape 27"/>
          <p:cNvSpPr/>
          <p:nvPr/>
        </p:nvSpPr>
        <p:spPr>
          <a:xfrm>
            <a:off x="6263640" y="4050792"/>
            <a:ext cx="5440680" cy="960120"/>
          </a:xfrm>
          <a:prstGeom prst="roundRect">
            <a:avLst>
              <a:gd name="adj" fmla="val 6667"/>
            </a:avLst>
          </a:prstGeom>
          <a:solidFill>
            <a:srgbClr val="E9DEF2"/>
          </a:solidFill>
          <a:ln w="9525">
            <a:solidFill>
              <a:srgbClr val="D9C0E8"/>
            </a:solidFill>
            <a:prstDash val="solid"/>
          </a:ln>
        </p:spPr>
        <p:txBody>
          <a:bodyPr/>
          <a:lstStyle/>
          <a:p>
            <a:endParaRPr lang="en-IN"/>
          </a:p>
        </p:txBody>
      </p:sp>
      <p:sp>
        <p:nvSpPr>
          <p:cNvPr id="30" name="Text 28"/>
          <p:cNvSpPr/>
          <p:nvPr/>
        </p:nvSpPr>
        <p:spPr>
          <a:xfrm>
            <a:off x="6464808" y="4142232"/>
            <a:ext cx="5038344" cy="256032"/>
          </a:xfrm>
          <a:prstGeom prst="rect">
            <a:avLst/>
          </a:prstGeom>
          <a:noFill/>
          <a:ln/>
        </p:spPr>
        <p:txBody>
          <a:bodyPr wrap="square" rtlCol="0" anchor="ctr"/>
          <a:lstStyle/>
          <a:p>
            <a:pPr marL="0" indent="0">
              <a:buNone/>
            </a:pPr>
            <a:r>
              <a:rPr lang="en-US" sz="1350" b="1" dirty="0">
                <a:solidFill>
                  <a:srgbClr val="3B1656"/>
                </a:solidFill>
                <a:latin typeface="Cambria" pitchFamily="34" charset="0"/>
                <a:ea typeface="Cambria" pitchFamily="34" charset="-122"/>
                <a:cs typeface="Cambria" pitchFamily="34" charset="-120"/>
              </a:rPr>
              <a:t>MoM Revenue Growth %</a:t>
            </a:r>
            <a:endParaRPr lang="en-US" sz="1350" dirty="0"/>
          </a:p>
        </p:txBody>
      </p:sp>
      <p:sp>
        <p:nvSpPr>
          <p:cNvPr id="31" name="Text 29"/>
          <p:cNvSpPr/>
          <p:nvPr/>
        </p:nvSpPr>
        <p:spPr>
          <a:xfrm>
            <a:off x="6464808" y="4398264"/>
            <a:ext cx="5038344" cy="219456"/>
          </a:xfrm>
          <a:prstGeom prst="rect">
            <a:avLst/>
          </a:prstGeom>
          <a:noFill/>
          <a:ln/>
        </p:spPr>
        <p:txBody>
          <a:bodyPr wrap="square" rtlCol="0" anchor="ctr"/>
          <a:lstStyle/>
          <a:p>
            <a:pPr marL="0" indent="0">
              <a:buNone/>
            </a:pPr>
            <a:r>
              <a:rPr lang="en-US" sz="950" dirty="0">
                <a:solidFill>
                  <a:srgbClr val="7A3E9D"/>
                </a:solidFill>
                <a:latin typeface="Courier New" pitchFamily="34" charset="0"/>
                <a:ea typeface="Courier New" pitchFamily="34" charset="-122"/>
                <a:cs typeface="Courier New" pitchFamily="34" charset="-120"/>
              </a:rPr>
              <a:t>This month's revenue vs. last month's</a:t>
            </a:r>
            <a:endParaRPr lang="en-US" sz="950" dirty="0"/>
          </a:p>
        </p:txBody>
      </p:sp>
      <p:sp>
        <p:nvSpPr>
          <p:cNvPr id="32" name="Text 30"/>
          <p:cNvSpPr/>
          <p:nvPr/>
        </p:nvSpPr>
        <p:spPr>
          <a:xfrm>
            <a:off x="6464808" y="4626864"/>
            <a:ext cx="5038344" cy="347472"/>
          </a:xfrm>
          <a:prstGeom prst="rect">
            <a:avLst/>
          </a:prstGeom>
          <a:noFill/>
          <a:ln/>
        </p:spPr>
        <p:txBody>
          <a:bodyPr wrap="square" rtlCol="0" anchor="ctr"/>
          <a:lstStyle/>
          <a:p>
            <a:pPr marL="0" indent="0">
              <a:lnSpc>
                <a:spcPts val="1200"/>
              </a:lnSpc>
              <a:buNone/>
            </a:pPr>
            <a:r>
              <a:rPr lang="en-US" sz="1000" dirty="0">
                <a:solidFill>
                  <a:srgbClr val="2A1338"/>
                </a:solidFill>
                <a:latin typeface="Calibri" pitchFamily="34" charset="0"/>
                <a:ea typeface="Calibri" pitchFamily="34" charset="-122"/>
                <a:cs typeface="Calibri" pitchFamily="34" charset="-120"/>
              </a:rPr>
              <a:t>Shows whether the business is growing, flat, or shrinking month to month.</a:t>
            </a:r>
            <a:endParaRPr lang="en-US" sz="1000" dirty="0"/>
          </a:p>
        </p:txBody>
      </p:sp>
      <p:sp>
        <p:nvSpPr>
          <p:cNvPr id="33" name="Shape 31"/>
          <p:cNvSpPr/>
          <p:nvPr/>
        </p:nvSpPr>
        <p:spPr>
          <a:xfrm>
            <a:off x="6263640" y="5138928"/>
            <a:ext cx="5440680" cy="960120"/>
          </a:xfrm>
          <a:prstGeom prst="roundRect">
            <a:avLst>
              <a:gd name="adj" fmla="val 6667"/>
            </a:avLst>
          </a:prstGeom>
          <a:solidFill>
            <a:srgbClr val="FBF9FD"/>
          </a:solidFill>
          <a:ln w="9525">
            <a:solidFill>
              <a:srgbClr val="D9C0E8"/>
            </a:solidFill>
            <a:prstDash val="solid"/>
          </a:ln>
        </p:spPr>
        <p:txBody>
          <a:bodyPr/>
          <a:lstStyle/>
          <a:p>
            <a:endParaRPr lang="en-IN"/>
          </a:p>
        </p:txBody>
      </p:sp>
      <p:sp>
        <p:nvSpPr>
          <p:cNvPr id="34" name="Text 32"/>
          <p:cNvSpPr/>
          <p:nvPr/>
        </p:nvSpPr>
        <p:spPr>
          <a:xfrm>
            <a:off x="6464808" y="5230368"/>
            <a:ext cx="5038344" cy="256032"/>
          </a:xfrm>
          <a:prstGeom prst="rect">
            <a:avLst/>
          </a:prstGeom>
          <a:noFill/>
          <a:ln/>
        </p:spPr>
        <p:txBody>
          <a:bodyPr wrap="square" rtlCol="0" anchor="ctr"/>
          <a:lstStyle/>
          <a:p>
            <a:pPr marL="0" indent="0">
              <a:buNone/>
            </a:pPr>
            <a:r>
              <a:rPr lang="en-US" sz="1350" b="1" dirty="0">
                <a:solidFill>
                  <a:srgbClr val="3B1656"/>
                </a:solidFill>
                <a:latin typeface="Cambria" pitchFamily="34" charset="0"/>
                <a:ea typeface="Cambria" pitchFamily="34" charset="-122"/>
                <a:cs typeface="Cambria" pitchFamily="34" charset="-120"/>
              </a:rPr>
              <a:t>Repeat Customer %</a:t>
            </a:r>
            <a:endParaRPr lang="en-US" sz="1350" dirty="0"/>
          </a:p>
        </p:txBody>
      </p:sp>
      <p:sp>
        <p:nvSpPr>
          <p:cNvPr id="35" name="Text 33"/>
          <p:cNvSpPr/>
          <p:nvPr/>
        </p:nvSpPr>
        <p:spPr>
          <a:xfrm>
            <a:off x="6464808" y="5486400"/>
            <a:ext cx="5038344" cy="219456"/>
          </a:xfrm>
          <a:prstGeom prst="rect">
            <a:avLst/>
          </a:prstGeom>
          <a:noFill/>
          <a:ln/>
        </p:spPr>
        <p:txBody>
          <a:bodyPr wrap="square" rtlCol="0" anchor="ctr"/>
          <a:lstStyle/>
          <a:p>
            <a:pPr marL="0" indent="0">
              <a:buNone/>
            </a:pPr>
            <a:r>
              <a:rPr lang="en-US" sz="950" dirty="0">
                <a:solidFill>
                  <a:srgbClr val="7A3E9D"/>
                </a:solidFill>
                <a:latin typeface="Courier New" pitchFamily="34" charset="0"/>
                <a:ea typeface="Courier New" pitchFamily="34" charset="-122"/>
                <a:cs typeface="Courier New" pitchFamily="34" charset="-120"/>
              </a:rPr>
              <a:t>% of unique customers with 2+ orders</a:t>
            </a:r>
            <a:endParaRPr lang="en-US" sz="950" dirty="0"/>
          </a:p>
        </p:txBody>
      </p:sp>
      <p:sp>
        <p:nvSpPr>
          <p:cNvPr id="36" name="Text 34"/>
          <p:cNvSpPr/>
          <p:nvPr/>
        </p:nvSpPr>
        <p:spPr>
          <a:xfrm>
            <a:off x="6464808" y="5715000"/>
            <a:ext cx="5038344" cy="347472"/>
          </a:xfrm>
          <a:prstGeom prst="rect">
            <a:avLst/>
          </a:prstGeom>
          <a:noFill/>
          <a:ln/>
        </p:spPr>
        <p:txBody>
          <a:bodyPr wrap="square" rtlCol="0" anchor="ctr"/>
          <a:lstStyle/>
          <a:p>
            <a:pPr marL="0" indent="0">
              <a:lnSpc>
                <a:spcPts val="1200"/>
              </a:lnSpc>
              <a:buNone/>
            </a:pPr>
            <a:r>
              <a:rPr lang="en-US" sz="1000" dirty="0">
                <a:solidFill>
                  <a:srgbClr val="2A1338"/>
                </a:solidFill>
                <a:latin typeface="Calibri" pitchFamily="34" charset="0"/>
                <a:ea typeface="Calibri" pitchFamily="34" charset="-122"/>
                <a:cs typeface="Calibri" pitchFamily="34" charset="-120"/>
              </a:rPr>
              <a:t>A loyalty indicator — how many customers come back to buy again.</a:t>
            </a:r>
            <a:endParaRPr lang="en-US" sz="1000" dirty="0"/>
          </a:p>
        </p:txBody>
      </p:sp>
      <p:sp>
        <p:nvSpPr>
          <p:cNvPr id="38" name="Text 35"/>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5878"/>
                </a:solidFill>
                <a:latin typeface="Calibri" pitchFamily="34" charset="0"/>
                <a:ea typeface="Calibri" pitchFamily="34" charset="-122"/>
                <a:cs typeface="Calibri" pitchFamily="34" charset="-120"/>
              </a:rPr>
              <a:t>06</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7A3E9D"/>
                </a:solidFill>
                <a:latin typeface="Calibri" pitchFamily="34" charset="0"/>
                <a:ea typeface="Calibri" pitchFamily="34" charset="-122"/>
                <a:cs typeface="Calibri" pitchFamily="34" charset="-120"/>
              </a:rPr>
              <a:t>DASHBOARD PAGE 1 OF 3</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2A1338"/>
                </a:solidFill>
                <a:latin typeface="Cambria" pitchFamily="34" charset="0"/>
                <a:ea typeface="Cambria" pitchFamily="34" charset="-122"/>
                <a:cs typeface="Cambria" pitchFamily="34" charset="-120"/>
              </a:rPr>
              <a:t>Overview</a:t>
            </a:r>
            <a:endParaRPr lang="en-US" sz="3000" dirty="0"/>
          </a:p>
        </p:txBody>
      </p:sp>
      <p:sp>
        <p:nvSpPr>
          <p:cNvPr id="4" name="Shape 2"/>
          <p:cNvSpPr/>
          <p:nvPr/>
        </p:nvSpPr>
        <p:spPr>
          <a:xfrm>
            <a:off x="548640" y="1417320"/>
            <a:ext cx="7040880" cy="4069080"/>
          </a:xfrm>
          <a:prstGeom prst="roundRect">
            <a:avLst>
              <a:gd name="adj" fmla="val 1348"/>
            </a:avLst>
          </a:prstGeom>
          <a:solidFill>
            <a:srgbClr val="FFFFFF"/>
          </a:solidFill>
          <a:ln w="19050">
            <a:solidFill>
              <a:srgbClr val="7A3E9D"/>
            </a:solidFill>
            <a:prstDash val="solid"/>
          </a:ln>
        </p:spPr>
        <p:txBody>
          <a:bodyPr/>
          <a:lstStyle/>
          <a:p>
            <a:endParaRPr lang="en-IN"/>
          </a:p>
        </p:txBody>
      </p:sp>
      <p:pic>
        <p:nvPicPr>
          <p:cNvPr id="5" name="Image 0" descr="/home/claude/ppt/overview.png"/>
          <p:cNvPicPr>
            <a:picLocks noChangeAspect="1"/>
          </p:cNvPicPr>
          <p:nvPr/>
        </p:nvPicPr>
        <p:blipFill>
          <a:blip r:embed="rId3"/>
          <a:stretch>
            <a:fillRect/>
          </a:stretch>
        </p:blipFill>
        <p:spPr>
          <a:xfrm>
            <a:off x="621792" y="1490472"/>
            <a:ext cx="6894576" cy="3776472"/>
          </a:xfrm>
          <a:prstGeom prst="rect">
            <a:avLst/>
          </a:prstGeom>
        </p:spPr>
      </p:pic>
      <p:sp>
        <p:nvSpPr>
          <p:cNvPr id="6" name="Shape 3"/>
          <p:cNvSpPr/>
          <p:nvPr/>
        </p:nvSpPr>
        <p:spPr>
          <a:xfrm>
            <a:off x="7772400" y="1417320"/>
            <a:ext cx="3840480" cy="4709160"/>
          </a:xfrm>
          <a:prstGeom prst="roundRect">
            <a:avLst>
              <a:gd name="adj" fmla="val 2381"/>
            </a:avLst>
          </a:prstGeom>
          <a:solidFill>
            <a:srgbClr val="3B1656"/>
          </a:solidFill>
          <a:ln/>
        </p:spPr>
        <p:txBody>
          <a:bodyPr/>
          <a:lstStyle/>
          <a:p>
            <a:endParaRPr lang="en-IN"/>
          </a:p>
        </p:txBody>
      </p:sp>
      <p:sp>
        <p:nvSpPr>
          <p:cNvPr id="7" name="Text 4"/>
          <p:cNvSpPr/>
          <p:nvPr/>
        </p:nvSpPr>
        <p:spPr>
          <a:xfrm>
            <a:off x="8001000" y="1600200"/>
            <a:ext cx="3383280" cy="274320"/>
          </a:xfrm>
          <a:prstGeom prst="rect">
            <a:avLst/>
          </a:prstGeom>
          <a:noFill/>
          <a:ln/>
        </p:spPr>
        <p:txBody>
          <a:bodyPr wrap="square" rtlCol="0" anchor="ctr"/>
          <a:lstStyle/>
          <a:p>
            <a:pPr marL="0" indent="0">
              <a:buNone/>
            </a:pPr>
            <a:r>
              <a:rPr lang="en-US" sz="1050" b="1" kern="0" spc="120" dirty="0">
                <a:solidFill>
                  <a:srgbClr val="F0A93A"/>
                </a:solidFill>
                <a:latin typeface="Calibri" pitchFamily="34" charset="0"/>
                <a:ea typeface="Calibri" pitchFamily="34" charset="-122"/>
                <a:cs typeface="Calibri" pitchFamily="34" charset="-120"/>
              </a:rPr>
              <a:t>WHAT EACH VISUAL SAYS</a:t>
            </a:r>
            <a:endParaRPr lang="en-US" sz="1050" dirty="0"/>
          </a:p>
        </p:txBody>
      </p:sp>
      <p:sp>
        <p:nvSpPr>
          <p:cNvPr id="8" name="Text 5"/>
          <p:cNvSpPr/>
          <p:nvPr/>
        </p:nvSpPr>
        <p:spPr>
          <a:xfrm>
            <a:off x="8001000" y="1965960"/>
            <a:ext cx="33832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KPI Cards</a:t>
            </a:r>
            <a:endParaRPr lang="en-US" sz="1300" dirty="0"/>
          </a:p>
        </p:txBody>
      </p:sp>
      <p:sp>
        <p:nvSpPr>
          <p:cNvPr id="9" name="Text 6"/>
          <p:cNvSpPr/>
          <p:nvPr/>
        </p:nvSpPr>
        <p:spPr>
          <a:xfrm>
            <a:off x="8001000" y="2258568"/>
            <a:ext cx="3383280" cy="68580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Total Revenue 13.59M, Orders 96K, Avg Order Value 140.9, Customers 96K — the headline numbers (Q1).</a:t>
            </a:r>
            <a:endParaRPr lang="en-US" sz="1050" dirty="0"/>
          </a:p>
        </p:txBody>
      </p:sp>
      <p:sp>
        <p:nvSpPr>
          <p:cNvPr id="10" name="Text 7"/>
          <p:cNvSpPr/>
          <p:nvPr/>
        </p:nvSpPr>
        <p:spPr>
          <a:xfrm>
            <a:off x="8001000" y="2999232"/>
            <a:ext cx="33832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Monthly Trend</a:t>
            </a:r>
            <a:endParaRPr lang="en-US" sz="1300" dirty="0"/>
          </a:p>
        </p:txBody>
      </p:sp>
      <p:sp>
        <p:nvSpPr>
          <p:cNvPr id="11" name="Text 8"/>
          <p:cNvSpPr/>
          <p:nvPr/>
        </p:nvSpPr>
        <p:spPr>
          <a:xfrm>
            <a:off x="8001000" y="3291840"/>
            <a:ext cx="3383280" cy="68580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Line chart shows revenue is steady most months but drops sharply in September — a clear seasonal dip to investigate (Q4).</a:t>
            </a:r>
            <a:endParaRPr lang="en-US" sz="1050" dirty="0"/>
          </a:p>
        </p:txBody>
      </p:sp>
      <p:sp>
        <p:nvSpPr>
          <p:cNvPr id="12" name="Text 9"/>
          <p:cNvSpPr/>
          <p:nvPr/>
        </p:nvSpPr>
        <p:spPr>
          <a:xfrm>
            <a:off x="8001000" y="4032504"/>
            <a:ext cx="33832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Payment Breakdown</a:t>
            </a:r>
            <a:endParaRPr lang="en-US" sz="1300" dirty="0"/>
          </a:p>
        </p:txBody>
      </p:sp>
      <p:sp>
        <p:nvSpPr>
          <p:cNvPr id="13" name="Text 10"/>
          <p:cNvSpPr/>
          <p:nvPr/>
        </p:nvSpPr>
        <p:spPr>
          <a:xfrm>
            <a:off x="8001000" y="4325112"/>
            <a:ext cx="3383280" cy="68580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Donut shows revenue is nearly split evenly across boleto, credit card, debit card and voucher — no single payment method dominates.</a:t>
            </a:r>
            <a:endParaRPr lang="en-US" sz="1050" dirty="0"/>
          </a:p>
        </p:txBody>
      </p:sp>
      <p:sp>
        <p:nvSpPr>
          <p:cNvPr id="14" name="Text 11"/>
          <p:cNvSpPr/>
          <p:nvPr/>
        </p:nvSpPr>
        <p:spPr>
          <a:xfrm>
            <a:off x="8001000" y="5065776"/>
            <a:ext cx="33832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Revenue by State (Map)</a:t>
            </a:r>
            <a:endParaRPr lang="en-US" sz="1300" dirty="0"/>
          </a:p>
        </p:txBody>
      </p:sp>
      <p:sp>
        <p:nvSpPr>
          <p:cNvPr id="15" name="Text 12"/>
          <p:cNvSpPr/>
          <p:nvPr/>
        </p:nvSpPr>
        <p:spPr>
          <a:xfrm>
            <a:off x="8001000" y="5358384"/>
            <a:ext cx="3383280" cy="68580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Bubble map shows revenue concentrated in the Southeast (São Paulo region) — regional demand isn't uniform (Q6).</a:t>
            </a:r>
            <a:endParaRPr lang="en-US" sz="1050" dirty="0"/>
          </a:p>
        </p:txBody>
      </p:sp>
      <p:sp>
        <p:nvSpPr>
          <p:cNvPr id="17" name="Text 13"/>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5878"/>
                </a:solidFill>
                <a:latin typeface="Calibri" pitchFamily="34" charset="0"/>
                <a:ea typeface="Calibri" pitchFamily="34" charset="-122"/>
                <a:cs typeface="Calibri" pitchFamily="34" charset="-120"/>
              </a:rPr>
              <a:t>07</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7A3E9D"/>
                </a:solidFill>
                <a:latin typeface="Calibri" pitchFamily="34" charset="0"/>
                <a:ea typeface="Calibri" pitchFamily="34" charset="-122"/>
                <a:cs typeface="Calibri" pitchFamily="34" charset="-120"/>
              </a:rPr>
              <a:t>DASHBOARD PAGE 2 OF 3</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2A1338"/>
                </a:solidFill>
                <a:latin typeface="Cambria" pitchFamily="34" charset="0"/>
                <a:ea typeface="Cambria" pitchFamily="34" charset="-122"/>
                <a:cs typeface="Cambria" pitchFamily="34" charset="-120"/>
              </a:rPr>
              <a:t>Products &amp; Categories</a:t>
            </a:r>
            <a:endParaRPr lang="en-US" sz="3000" dirty="0"/>
          </a:p>
        </p:txBody>
      </p:sp>
      <p:sp>
        <p:nvSpPr>
          <p:cNvPr id="4" name="Shape 2"/>
          <p:cNvSpPr/>
          <p:nvPr/>
        </p:nvSpPr>
        <p:spPr>
          <a:xfrm>
            <a:off x="548640" y="1417320"/>
            <a:ext cx="7040880" cy="4069080"/>
          </a:xfrm>
          <a:prstGeom prst="roundRect">
            <a:avLst>
              <a:gd name="adj" fmla="val 1348"/>
            </a:avLst>
          </a:prstGeom>
          <a:solidFill>
            <a:srgbClr val="FFFFFF"/>
          </a:solidFill>
          <a:ln w="19050">
            <a:solidFill>
              <a:srgbClr val="7A3E9D"/>
            </a:solidFill>
            <a:prstDash val="solid"/>
          </a:ln>
        </p:spPr>
        <p:txBody>
          <a:bodyPr/>
          <a:lstStyle/>
          <a:p>
            <a:endParaRPr lang="en-IN"/>
          </a:p>
        </p:txBody>
      </p:sp>
      <p:pic>
        <p:nvPicPr>
          <p:cNvPr id="5" name="Image 0" descr="/home/claude/ppt/products.png"/>
          <p:cNvPicPr>
            <a:picLocks noChangeAspect="1"/>
          </p:cNvPicPr>
          <p:nvPr/>
        </p:nvPicPr>
        <p:blipFill>
          <a:blip r:embed="rId3"/>
          <a:stretch>
            <a:fillRect/>
          </a:stretch>
        </p:blipFill>
        <p:spPr>
          <a:xfrm>
            <a:off x="621792" y="1490472"/>
            <a:ext cx="6894576" cy="3794760"/>
          </a:xfrm>
          <a:prstGeom prst="rect">
            <a:avLst/>
          </a:prstGeom>
        </p:spPr>
      </p:pic>
      <p:sp>
        <p:nvSpPr>
          <p:cNvPr id="6" name="Shape 3"/>
          <p:cNvSpPr/>
          <p:nvPr/>
        </p:nvSpPr>
        <p:spPr>
          <a:xfrm>
            <a:off x="7772400" y="1417320"/>
            <a:ext cx="3840480" cy="4709160"/>
          </a:xfrm>
          <a:prstGeom prst="roundRect">
            <a:avLst>
              <a:gd name="adj" fmla="val 2381"/>
            </a:avLst>
          </a:prstGeom>
          <a:solidFill>
            <a:srgbClr val="3B1656"/>
          </a:solidFill>
          <a:ln/>
        </p:spPr>
        <p:txBody>
          <a:bodyPr/>
          <a:lstStyle/>
          <a:p>
            <a:endParaRPr lang="en-IN"/>
          </a:p>
        </p:txBody>
      </p:sp>
      <p:sp>
        <p:nvSpPr>
          <p:cNvPr id="7" name="Text 4"/>
          <p:cNvSpPr/>
          <p:nvPr/>
        </p:nvSpPr>
        <p:spPr>
          <a:xfrm>
            <a:off x="8001000" y="1600200"/>
            <a:ext cx="3383280" cy="274320"/>
          </a:xfrm>
          <a:prstGeom prst="rect">
            <a:avLst/>
          </a:prstGeom>
          <a:noFill/>
          <a:ln/>
        </p:spPr>
        <p:txBody>
          <a:bodyPr wrap="square" rtlCol="0" anchor="ctr"/>
          <a:lstStyle/>
          <a:p>
            <a:pPr marL="0" indent="0">
              <a:buNone/>
            </a:pPr>
            <a:r>
              <a:rPr lang="en-US" sz="1050" b="1" kern="0" spc="120" dirty="0">
                <a:solidFill>
                  <a:srgbClr val="F0A93A"/>
                </a:solidFill>
                <a:latin typeface="Calibri" pitchFamily="34" charset="0"/>
                <a:ea typeface="Calibri" pitchFamily="34" charset="-122"/>
                <a:cs typeface="Calibri" pitchFamily="34" charset="-120"/>
              </a:rPr>
              <a:t>WHAT EACH VISUAL SAYS</a:t>
            </a:r>
            <a:endParaRPr lang="en-US" sz="1050" dirty="0"/>
          </a:p>
        </p:txBody>
      </p:sp>
      <p:sp>
        <p:nvSpPr>
          <p:cNvPr id="8" name="Text 5"/>
          <p:cNvSpPr/>
          <p:nvPr/>
        </p:nvSpPr>
        <p:spPr>
          <a:xfrm>
            <a:off x="8001000" y="1965960"/>
            <a:ext cx="33832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Top Categories (Bar)</a:t>
            </a:r>
            <a:endParaRPr lang="en-US" sz="1300" dirty="0"/>
          </a:p>
        </p:txBody>
      </p:sp>
      <p:sp>
        <p:nvSpPr>
          <p:cNvPr id="9" name="Text 6"/>
          <p:cNvSpPr/>
          <p:nvPr/>
        </p:nvSpPr>
        <p:spPr>
          <a:xfrm>
            <a:off x="8001000" y="2258568"/>
            <a:ext cx="3383280" cy="68580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health_beauty, watches_gifts and bed_bath_table lead revenue — the top 3 alone drive over 3.5M (Q2).</a:t>
            </a:r>
            <a:endParaRPr lang="en-US" sz="1050" dirty="0"/>
          </a:p>
        </p:txBody>
      </p:sp>
      <p:sp>
        <p:nvSpPr>
          <p:cNvPr id="10" name="Text 7"/>
          <p:cNvSpPr/>
          <p:nvPr/>
        </p:nvSpPr>
        <p:spPr>
          <a:xfrm>
            <a:off x="8001000" y="2999232"/>
            <a:ext cx="33832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Revenue Treemap</a:t>
            </a:r>
            <a:endParaRPr lang="en-US" sz="1300" dirty="0"/>
          </a:p>
        </p:txBody>
      </p:sp>
      <p:sp>
        <p:nvSpPr>
          <p:cNvPr id="11" name="Text 8"/>
          <p:cNvSpPr/>
          <p:nvPr/>
        </p:nvSpPr>
        <p:spPr>
          <a:xfrm>
            <a:off x="8001000" y="3291840"/>
            <a:ext cx="3383280" cy="68580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Block size shows relative category weight at a glance — reinforces which categories carry the business.</a:t>
            </a:r>
            <a:endParaRPr lang="en-US" sz="1050" dirty="0"/>
          </a:p>
        </p:txBody>
      </p:sp>
      <p:sp>
        <p:nvSpPr>
          <p:cNvPr id="12" name="Text 9"/>
          <p:cNvSpPr/>
          <p:nvPr/>
        </p:nvSpPr>
        <p:spPr>
          <a:xfrm>
            <a:off x="8001000" y="4032504"/>
            <a:ext cx="33832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Categories Needing Attention</a:t>
            </a:r>
            <a:endParaRPr lang="en-US" sz="1300" dirty="0"/>
          </a:p>
        </p:txBody>
      </p:sp>
      <p:sp>
        <p:nvSpPr>
          <p:cNvPr id="13" name="Text 10"/>
          <p:cNvSpPr/>
          <p:nvPr/>
        </p:nvSpPr>
        <p:spPr>
          <a:xfrm>
            <a:off x="8001000" y="4325112"/>
            <a:ext cx="3383280" cy="68580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Scatter of review score vs revenue flags low-revenue, low-rated categories in the bottom-left as priorities (Q8).</a:t>
            </a:r>
            <a:endParaRPr lang="en-US" sz="1050" dirty="0"/>
          </a:p>
        </p:txBody>
      </p:sp>
      <p:sp>
        <p:nvSpPr>
          <p:cNvPr id="14" name="Text 11"/>
          <p:cNvSpPr/>
          <p:nvPr/>
        </p:nvSpPr>
        <p:spPr>
          <a:xfrm>
            <a:off x="8001000" y="5065776"/>
            <a:ext cx="33832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Category Detail Table</a:t>
            </a:r>
            <a:endParaRPr lang="en-US" sz="1300" dirty="0"/>
          </a:p>
        </p:txBody>
      </p:sp>
      <p:sp>
        <p:nvSpPr>
          <p:cNvPr id="15" name="Text 12"/>
          <p:cNvSpPr/>
          <p:nvPr/>
        </p:nvSpPr>
        <p:spPr>
          <a:xfrm>
            <a:off x="8001000" y="5358384"/>
            <a:ext cx="3383280" cy="68580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Revenue, order count and avg review score per category side-by-side — supports quick prioritization decisions.</a:t>
            </a:r>
            <a:endParaRPr lang="en-US" sz="1050" dirty="0"/>
          </a:p>
        </p:txBody>
      </p:sp>
      <p:sp>
        <p:nvSpPr>
          <p:cNvPr id="17" name="Text 13"/>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5878"/>
                </a:solidFill>
                <a:latin typeface="Calibri" pitchFamily="34" charset="0"/>
                <a:ea typeface="Calibri" pitchFamily="34" charset="-122"/>
                <a:cs typeface="Calibri" pitchFamily="34" charset="-120"/>
              </a:rPr>
              <a:t>08</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7A3E9D"/>
                </a:solidFill>
                <a:latin typeface="Calibri" pitchFamily="34" charset="0"/>
                <a:ea typeface="Calibri" pitchFamily="34" charset="-122"/>
                <a:cs typeface="Calibri" pitchFamily="34" charset="-120"/>
              </a:rPr>
              <a:t>DASHBOARD PAGE 3 OF 3</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2A1338"/>
                </a:solidFill>
                <a:latin typeface="Cambria" pitchFamily="34" charset="0"/>
                <a:ea typeface="Cambria" pitchFamily="34" charset="-122"/>
                <a:cs typeface="Cambria" pitchFamily="34" charset="-120"/>
              </a:rPr>
              <a:t>Customers &amp; Regions</a:t>
            </a:r>
            <a:endParaRPr lang="en-US" sz="3000" dirty="0"/>
          </a:p>
        </p:txBody>
      </p:sp>
      <p:sp>
        <p:nvSpPr>
          <p:cNvPr id="4" name="Shape 2"/>
          <p:cNvSpPr/>
          <p:nvPr/>
        </p:nvSpPr>
        <p:spPr>
          <a:xfrm>
            <a:off x="548640" y="1417320"/>
            <a:ext cx="7040880" cy="4069080"/>
          </a:xfrm>
          <a:prstGeom prst="roundRect">
            <a:avLst>
              <a:gd name="adj" fmla="val 1348"/>
            </a:avLst>
          </a:prstGeom>
          <a:solidFill>
            <a:srgbClr val="FFFFFF"/>
          </a:solidFill>
          <a:ln w="19050">
            <a:solidFill>
              <a:srgbClr val="7A3E9D"/>
            </a:solidFill>
            <a:prstDash val="solid"/>
          </a:ln>
        </p:spPr>
        <p:txBody>
          <a:bodyPr/>
          <a:lstStyle/>
          <a:p>
            <a:endParaRPr lang="en-IN"/>
          </a:p>
        </p:txBody>
      </p:sp>
      <p:pic>
        <p:nvPicPr>
          <p:cNvPr id="5" name="Image 0" descr="/home/claude/ppt/customers.png"/>
          <p:cNvPicPr>
            <a:picLocks noChangeAspect="1"/>
          </p:cNvPicPr>
          <p:nvPr/>
        </p:nvPicPr>
        <p:blipFill>
          <a:blip r:embed="rId3"/>
          <a:stretch>
            <a:fillRect/>
          </a:stretch>
        </p:blipFill>
        <p:spPr>
          <a:xfrm>
            <a:off x="621792" y="1490472"/>
            <a:ext cx="6894576" cy="3813048"/>
          </a:xfrm>
          <a:prstGeom prst="rect">
            <a:avLst/>
          </a:prstGeom>
        </p:spPr>
      </p:pic>
      <p:sp>
        <p:nvSpPr>
          <p:cNvPr id="6" name="Shape 3"/>
          <p:cNvSpPr/>
          <p:nvPr/>
        </p:nvSpPr>
        <p:spPr>
          <a:xfrm>
            <a:off x="7772400" y="1417320"/>
            <a:ext cx="3840480" cy="4709160"/>
          </a:xfrm>
          <a:prstGeom prst="roundRect">
            <a:avLst>
              <a:gd name="adj" fmla="val 2381"/>
            </a:avLst>
          </a:prstGeom>
          <a:solidFill>
            <a:srgbClr val="3B1656"/>
          </a:solidFill>
          <a:ln/>
        </p:spPr>
        <p:txBody>
          <a:bodyPr/>
          <a:lstStyle/>
          <a:p>
            <a:endParaRPr lang="en-IN"/>
          </a:p>
        </p:txBody>
      </p:sp>
      <p:sp>
        <p:nvSpPr>
          <p:cNvPr id="7" name="Text 4"/>
          <p:cNvSpPr/>
          <p:nvPr/>
        </p:nvSpPr>
        <p:spPr>
          <a:xfrm>
            <a:off x="8001000" y="1600200"/>
            <a:ext cx="3383280" cy="274320"/>
          </a:xfrm>
          <a:prstGeom prst="rect">
            <a:avLst/>
          </a:prstGeom>
          <a:noFill/>
          <a:ln/>
        </p:spPr>
        <p:txBody>
          <a:bodyPr wrap="square" rtlCol="0" anchor="ctr"/>
          <a:lstStyle/>
          <a:p>
            <a:pPr marL="0" indent="0">
              <a:buNone/>
            </a:pPr>
            <a:r>
              <a:rPr lang="en-US" sz="1050" b="1" kern="0" spc="120" dirty="0">
                <a:solidFill>
                  <a:srgbClr val="F0A93A"/>
                </a:solidFill>
                <a:latin typeface="Calibri" pitchFamily="34" charset="0"/>
                <a:ea typeface="Calibri" pitchFamily="34" charset="-122"/>
                <a:cs typeface="Calibri" pitchFamily="34" charset="-120"/>
              </a:rPr>
              <a:t>WHAT EACH VISUAL SAYS</a:t>
            </a:r>
            <a:endParaRPr lang="en-US" sz="1050" dirty="0"/>
          </a:p>
        </p:txBody>
      </p:sp>
      <p:sp>
        <p:nvSpPr>
          <p:cNvPr id="8" name="Text 5"/>
          <p:cNvSpPr/>
          <p:nvPr/>
        </p:nvSpPr>
        <p:spPr>
          <a:xfrm>
            <a:off x="8001000" y="1965960"/>
            <a:ext cx="33832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Top Customers (Table)</a:t>
            </a:r>
            <a:endParaRPr lang="en-US" sz="1300" dirty="0"/>
          </a:p>
        </p:txBody>
      </p:sp>
      <p:sp>
        <p:nvSpPr>
          <p:cNvPr id="9" name="Text 6"/>
          <p:cNvSpPr/>
          <p:nvPr/>
        </p:nvSpPr>
        <p:spPr>
          <a:xfrm>
            <a:off x="8001000" y="2258568"/>
            <a:ext cx="3383280" cy="82296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Ranks customers by lifetime revenue by city — identifies the highest-value accounts (Q3).</a:t>
            </a:r>
            <a:endParaRPr lang="en-US" sz="1050" dirty="0"/>
          </a:p>
        </p:txBody>
      </p:sp>
      <p:sp>
        <p:nvSpPr>
          <p:cNvPr id="10" name="Text 7"/>
          <p:cNvSpPr/>
          <p:nvPr/>
        </p:nvSpPr>
        <p:spPr>
          <a:xfrm>
            <a:off x="8001000" y="3154680"/>
            <a:ext cx="33832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Delivery vs Rating (Column)</a:t>
            </a:r>
            <a:endParaRPr lang="en-US" sz="1300" dirty="0"/>
          </a:p>
        </p:txBody>
      </p:sp>
      <p:sp>
        <p:nvSpPr>
          <p:cNvPr id="11" name="Text 8"/>
          <p:cNvSpPr/>
          <p:nvPr/>
        </p:nvSpPr>
        <p:spPr>
          <a:xfrm>
            <a:off x="8001000" y="3447288"/>
            <a:ext cx="3383280" cy="82296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Orders arrive an average of 13 days early, and review scores average 3.0 — a direct look at what shapes satisfaction (Q9).</a:t>
            </a:r>
            <a:endParaRPr lang="en-US" sz="1050" dirty="0"/>
          </a:p>
        </p:txBody>
      </p:sp>
      <p:sp>
        <p:nvSpPr>
          <p:cNvPr id="12" name="Text 9"/>
          <p:cNvSpPr/>
          <p:nvPr/>
        </p:nvSpPr>
        <p:spPr>
          <a:xfrm>
            <a:off x="8001000" y="4343400"/>
            <a:ext cx="33832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Payment Installments Impact</a:t>
            </a:r>
            <a:endParaRPr lang="en-US" sz="1300" dirty="0"/>
          </a:p>
        </p:txBody>
      </p:sp>
      <p:sp>
        <p:nvSpPr>
          <p:cNvPr id="13" name="Text 10"/>
          <p:cNvSpPr/>
          <p:nvPr/>
        </p:nvSpPr>
        <p:spPr>
          <a:xfrm>
            <a:off x="8001000" y="4636008"/>
            <a:ext cx="3383280" cy="822960"/>
          </a:xfrm>
          <a:prstGeom prst="rect">
            <a:avLst/>
          </a:prstGeom>
          <a:noFill/>
          <a:ln/>
        </p:spPr>
        <p:txBody>
          <a:bodyPr wrap="square" rtlCol="0" anchor="ctr"/>
          <a:lstStyle/>
          <a:p>
            <a:pPr marL="0" indent="0">
              <a:lnSpc>
                <a:spcPts val="1300"/>
              </a:lnSpc>
              <a:buNone/>
            </a:pPr>
            <a:r>
              <a:rPr lang="en-US" sz="1050" dirty="0">
                <a:solidFill>
                  <a:srgbClr val="D9C7E8"/>
                </a:solidFill>
                <a:latin typeface="Calibri" pitchFamily="34" charset="0"/>
                <a:ea typeface="Calibri" pitchFamily="34" charset="-122"/>
                <a:cs typeface="Calibri" pitchFamily="34" charset="-120"/>
              </a:rPr>
              <a:t>Stacked bars show credit card dominates across almost every installment tier — installment flexibility drives payment choice.</a:t>
            </a:r>
            <a:endParaRPr lang="en-US" sz="1050" dirty="0"/>
          </a:p>
        </p:txBody>
      </p:sp>
      <p:sp>
        <p:nvSpPr>
          <p:cNvPr id="14" name="Text 11"/>
          <p:cNvSpPr/>
          <p:nvPr/>
        </p:nvSpPr>
        <p:spPr>
          <a:xfrm>
            <a:off x="8001000" y="5486400"/>
            <a:ext cx="3383280" cy="548640"/>
          </a:xfrm>
          <a:prstGeom prst="rect">
            <a:avLst/>
          </a:prstGeom>
          <a:noFill/>
          <a:ln/>
        </p:spPr>
        <p:txBody>
          <a:bodyPr wrap="square" rtlCol="0" anchor="ctr"/>
          <a:lstStyle/>
          <a:p>
            <a:pPr marL="0" indent="0">
              <a:lnSpc>
                <a:spcPts val="1300"/>
              </a:lnSpc>
              <a:buNone/>
            </a:pPr>
            <a:r>
              <a:rPr lang="en-US" sz="1050" i="1" dirty="0">
                <a:solidFill>
                  <a:srgbClr val="F0A93A"/>
                </a:solidFill>
                <a:latin typeface="Calibri" pitchFamily="34" charset="0"/>
                <a:ea typeface="Calibri" pitchFamily="34" charset="-122"/>
                <a:cs typeface="Calibri" pitchFamily="34" charset="-120"/>
              </a:rPr>
              <a:t>Together, these three visuals connect who buys, how they pay, and what drives their satisfaction.</a:t>
            </a:r>
            <a:endParaRPr lang="en-US" sz="1050" dirty="0"/>
          </a:p>
        </p:txBody>
      </p:sp>
      <p:sp>
        <p:nvSpPr>
          <p:cNvPr id="16" name="Text 12"/>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5878"/>
                </a:solidFill>
                <a:latin typeface="Calibri" pitchFamily="34" charset="0"/>
                <a:ea typeface="Calibri" pitchFamily="34" charset="-122"/>
                <a:cs typeface="Calibri" pitchFamily="34" charset="-120"/>
              </a:rPr>
              <a:t>09</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7A3E9D"/>
                </a:solidFill>
                <a:latin typeface="Calibri" pitchFamily="34" charset="0"/>
                <a:ea typeface="Calibri" pitchFamily="34" charset="-122"/>
                <a:cs typeface="Calibri" pitchFamily="34" charset="-120"/>
              </a:rPr>
              <a:t>ANALYSIS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2A1338"/>
                </a:solidFill>
                <a:latin typeface="Cambria" pitchFamily="34" charset="0"/>
                <a:ea typeface="Cambria" pitchFamily="34" charset="-122"/>
                <a:cs typeface="Cambria" pitchFamily="34" charset="-120"/>
              </a:rPr>
              <a:t>Key Insights</a:t>
            </a:r>
            <a:endParaRPr lang="en-US" sz="3000" dirty="0"/>
          </a:p>
        </p:txBody>
      </p:sp>
      <p:sp>
        <p:nvSpPr>
          <p:cNvPr id="4" name="Text 2"/>
          <p:cNvSpPr/>
          <p:nvPr/>
        </p:nvSpPr>
        <p:spPr>
          <a:xfrm>
            <a:off x="548640" y="1325880"/>
            <a:ext cx="10881360" cy="365760"/>
          </a:xfrm>
          <a:prstGeom prst="rect">
            <a:avLst/>
          </a:prstGeom>
          <a:noFill/>
          <a:ln/>
        </p:spPr>
        <p:txBody>
          <a:bodyPr wrap="square" rtlCol="0" anchor="ctr"/>
          <a:lstStyle/>
          <a:p>
            <a:pPr marL="0" indent="0">
              <a:buNone/>
            </a:pPr>
            <a:r>
              <a:rPr lang="en-US" sz="1300" i="1" dirty="0">
                <a:solidFill>
                  <a:srgbClr val="6B5878"/>
                </a:solidFill>
                <a:latin typeface="Calibri" pitchFamily="34" charset="0"/>
                <a:ea typeface="Calibri" pitchFamily="34" charset="-122"/>
                <a:cs typeface="Calibri" pitchFamily="34" charset="-120"/>
              </a:rPr>
              <a:t>Six findings from the dashboard, explained — what the data shows and why it matters for ShopSphere's decisions.</a:t>
            </a:r>
            <a:endParaRPr lang="en-US" sz="1300" dirty="0"/>
          </a:p>
        </p:txBody>
      </p:sp>
      <p:sp>
        <p:nvSpPr>
          <p:cNvPr id="5" name="Shape 3"/>
          <p:cNvSpPr/>
          <p:nvPr/>
        </p:nvSpPr>
        <p:spPr>
          <a:xfrm>
            <a:off x="8138160" y="1737360"/>
            <a:ext cx="219456" cy="219456"/>
          </a:xfrm>
          <a:prstGeom prst="ellipse">
            <a:avLst/>
          </a:prstGeom>
          <a:solidFill>
            <a:srgbClr val="3E8E5A"/>
          </a:solidFill>
          <a:ln/>
        </p:spPr>
        <p:txBody>
          <a:bodyPr/>
          <a:lstStyle/>
          <a:p>
            <a:endParaRPr lang="en-IN"/>
          </a:p>
        </p:txBody>
      </p:sp>
      <p:sp>
        <p:nvSpPr>
          <p:cNvPr id="6" name="Text 4"/>
          <p:cNvSpPr/>
          <p:nvPr/>
        </p:nvSpPr>
        <p:spPr>
          <a:xfrm>
            <a:off x="8138160" y="1737360"/>
            <a:ext cx="219456" cy="21945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8412480" y="1709928"/>
            <a:ext cx="1371600" cy="256032"/>
          </a:xfrm>
          <a:prstGeom prst="rect">
            <a:avLst/>
          </a:prstGeom>
          <a:noFill/>
          <a:ln/>
        </p:spPr>
        <p:txBody>
          <a:bodyPr wrap="square" rtlCol="0" anchor="ctr"/>
          <a:lstStyle/>
          <a:p>
            <a:pPr marL="0" indent="0">
              <a:buNone/>
            </a:pPr>
            <a:r>
              <a:rPr lang="en-US" sz="1000" dirty="0">
                <a:solidFill>
                  <a:srgbClr val="6B5878"/>
                </a:solidFill>
                <a:latin typeface="Calibri" pitchFamily="34" charset="0"/>
                <a:ea typeface="Calibri" pitchFamily="34" charset="-122"/>
                <a:cs typeface="Calibri" pitchFamily="34" charset="-120"/>
              </a:rPr>
              <a:t>Working well</a:t>
            </a:r>
            <a:endParaRPr lang="en-US" sz="1000" dirty="0"/>
          </a:p>
        </p:txBody>
      </p:sp>
      <p:sp>
        <p:nvSpPr>
          <p:cNvPr id="8" name="Shape 6"/>
          <p:cNvSpPr/>
          <p:nvPr/>
        </p:nvSpPr>
        <p:spPr>
          <a:xfrm>
            <a:off x="9646920" y="1737360"/>
            <a:ext cx="219456" cy="219456"/>
          </a:xfrm>
          <a:prstGeom prst="ellipse">
            <a:avLst/>
          </a:prstGeom>
          <a:solidFill>
            <a:srgbClr val="F0A93A"/>
          </a:solidFill>
          <a:ln/>
        </p:spPr>
        <p:txBody>
          <a:bodyPr/>
          <a:lstStyle/>
          <a:p>
            <a:endParaRPr lang="en-IN"/>
          </a:p>
        </p:txBody>
      </p:sp>
      <p:sp>
        <p:nvSpPr>
          <p:cNvPr id="9" name="Text 7"/>
          <p:cNvSpPr/>
          <p:nvPr/>
        </p:nvSpPr>
        <p:spPr>
          <a:xfrm>
            <a:off x="9646920" y="1737360"/>
            <a:ext cx="219456" cy="219456"/>
          </a:xfrm>
          <a:prstGeom prst="rect">
            <a:avLst/>
          </a:prstGeom>
          <a:noFill/>
          <a:ln/>
        </p:spPr>
        <p:txBody>
          <a:bodyPr wrap="square" rtlCol="0" anchor="ctr"/>
          <a:lstStyle/>
          <a:p>
            <a:pPr marL="0" indent="0" algn="ctr">
              <a:buNone/>
            </a:pPr>
            <a:r>
              <a:rPr lang="en-US" sz="1100" b="1" dirty="0">
                <a:solidFill>
                  <a:srgbClr val="3B1656"/>
                </a:solidFill>
                <a:latin typeface="Calibri" pitchFamily="34" charset="0"/>
                <a:ea typeface="Calibri" pitchFamily="34" charset="-122"/>
                <a:cs typeface="Calibri" pitchFamily="34" charset="-120"/>
              </a:rPr>
              <a:t>!</a:t>
            </a:r>
            <a:endParaRPr lang="en-US" sz="1100" dirty="0"/>
          </a:p>
        </p:txBody>
      </p:sp>
      <p:sp>
        <p:nvSpPr>
          <p:cNvPr id="10" name="Text 8"/>
          <p:cNvSpPr/>
          <p:nvPr/>
        </p:nvSpPr>
        <p:spPr>
          <a:xfrm>
            <a:off x="9921240" y="1709928"/>
            <a:ext cx="1554480" cy="256032"/>
          </a:xfrm>
          <a:prstGeom prst="rect">
            <a:avLst/>
          </a:prstGeom>
          <a:noFill/>
          <a:ln/>
        </p:spPr>
        <p:txBody>
          <a:bodyPr wrap="square" rtlCol="0" anchor="ctr"/>
          <a:lstStyle/>
          <a:p>
            <a:pPr marL="0" indent="0">
              <a:buNone/>
            </a:pPr>
            <a:r>
              <a:rPr lang="en-US" sz="1000" dirty="0">
                <a:solidFill>
                  <a:srgbClr val="6B5878"/>
                </a:solidFill>
                <a:latin typeface="Calibri" pitchFamily="34" charset="0"/>
                <a:ea typeface="Calibri" pitchFamily="34" charset="-122"/>
                <a:cs typeface="Calibri" pitchFamily="34" charset="-120"/>
              </a:rPr>
              <a:t>Needs attention</a:t>
            </a:r>
            <a:endParaRPr lang="en-US" sz="1000" dirty="0"/>
          </a:p>
        </p:txBody>
      </p:sp>
      <p:sp>
        <p:nvSpPr>
          <p:cNvPr id="11" name="Shape 9"/>
          <p:cNvSpPr/>
          <p:nvPr/>
        </p:nvSpPr>
        <p:spPr>
          <a:xfrm>
            <a:off x="548640" y="2148840"/>
            <a:ext cx="5349240" cy="1481328"/>
          </a:xfrm>
          <a:prstGeom prst="roundRect">
            <a:avLst>
              <a:gd name="adj" fmla="val 4938"/>
            </a:avLst>
          </a:prstGeom>
          <a:solidFill>
            <a:srgbClr val="EAF4EE"/>
          </a:solidFill>
          <a:ln w="12700">
            <a:solidFill>
              <a:srgbClr val="3E8E5A"/>
            </a:solidFill>
            <a:prstDash val="solid"/>
          </a:ln>
        </p:spPr>
        <p:txBody>
          <a:bodyPr/>
          <a:lstStyle/>
          <a:p>
            <a:endParaRPr lang="en-IN"/>
          </a:p>
        </p:txBody>
      </p:sp>
      <p:sp>
        <p:nvSpPr>
          <p:cNvPr id="12" name="Shape 10"/>
          <p:cNvSpPr/>
          <p:nvPr/>
        </p:nvSpPr>
        <p:spPr>
          <a:xfrm>
            <a:off x="749808" y="2350008"/>
            <a:ext cx="329184" cy="329184"/>
          </a:xfrm>
          <a:prstGeom prst="ellipse">
            <a:avLst/>
          </a:prstGeom>
          <a:solidFill>
            <a:srgbClr val="3E8E5A"/>
          </a:solidFill>
          <a:ln/>
        </p:spPr>
        <p:txBody>
          <a:bodyPr/>
          <a:lstStyle/>
          <a:p>
            <a:endParaRPr lang="en-IN"/>
          </a:p>
        </p:txBody>
      </p:sp>
      <p:sp>
        <p:nvSpPr>
          <p:cNvPr id="13" name="Text 11"/>
          <p:cNvSpPr/>
          <p:nvPr/>
        </p:nvSpPr>
        <p:spPr>
          <a:xfrm>
            <a:off x="749808" y="2350008"/>
            <a:ext cx="329184" cy="32918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207008" y="2276856"/>
            <a:ext cx="4480560" cy="457200"/>
          </a:xfrm>
          <a:prstGeom prst="rect">
            <a:avLst/>
          </a:prstGeom>
          <a:noFill/>
          <a:ln/>
        </p:spPr>
        <p:txBody>
          <a:bodyPr wrap="square" rtlCol="0" anchor="ctr"/>
          <a:lstStyle/>
          <a:p>
            <a:pPr marL="0" indent="0">
              <a:buNone/>
            </a:pPr>
            <a:r>
              <a:rPr lang="en-US" sz="1400" b="1" dirty="0">
                <a:solidFill>
                  <a:srgbClr val="3B1656"/>
                </a:solidFill>
                <a:latin typeface="Cambria" pitchFamily="34" charset="0"/>
                <a:ea typeface="Cambria" pitchFamily="34" charset="-122"/>
                <a:cs typeface="Cambria" pitchFamily="34" charset="-120"/>
              </a:rPr>
              <a:t>Strong, broad-based revenue</a:t>
            </a:r>
            <a:endParaRPr lang="en-US" sz="1400" dirty="0"/>
          </a:p>
        </p:txBody>
      </p:sp>
      <p:sp>
        <p:nvSpPr>
          <p:cNvPr id="15" name="Text 13"/>
          <p:cNvSpPr/>
          <p:nvPr/>
        </p:nvSpPr>
        <p:spPr>
          <a:xfrm>
            <a:off x="749808" y="2770632"/>
            <a:ext cx="4946904" cy="822960"/>
          </a:xfrm>
          <a:prstGeom prst="rect">
            <a:avLst/>
          </a:prstGeom>
          <a:noFill/>
          <a:ln/>
        </p:spPr>
        <p:txBody>
          <a:bodyPr wrap="square" rtlCol="0" anchor="ctr"/>
          <a:lstStyle/>
          <a:p>
            <a:pPr marL="0" indent="0">
              <a:lnSpc>
                <a:spcPts val="1300"/>
              </a:lnSpc>
              <a:buNone/>
            </a:pPr>
            <a:r>
              <a:rPr lang="en-US" sz="1050" dirty="0">
                <a:solidFill>
                  <a:srgbClr val="2A1338"/>
                </a:solidFill>
                <a:latin typeface="Calibri" pitchFamily="34" charset="0"/>
                <a:ea typeface="Calibri" pitchFamily="34" charset="-122"/>
                <a:cs typeface="Calibri" pitchFamily="34" charset="-120"/>
              </a:rPr>
              <a:t>₹13.59M came from 96K orders, averaging ₹140.90 each — a healthy spread across many orders rather than a few big-ticket sales, which makes the revenue base more stable.</a:t>
            </a:r>
            <a:endParaRPr lang="en-US" sz="1050" dirty="0"/>
          </a:p>
        </p:txBody>
      </p:sp>
      <p:sp>
        <p:nvSpPr>
          <p:cNvPr id="16" name="Shape 14"/>
          <p:cNvSpPr/>
          <p:nvPr/>
        </p:nvSpPr>
        <p:spPr>
          <a:xfrm>
            <a:off x="6080760" y="2148840"/>
            <a:ext cx="5349240" cy="1481328"/>
          </a:xfrm>
          <a:prstGeom prst="roundRect">
            <a:avLst>
              <a:gd name="adj" fmla="val 4938"/>
            </a:avLst>
          </a:prstGeom>
          <a:solidFill>
            <a:srgbClr val="FCF2E0"/>
          </a:solidFill>
          <a:ln w="12700">
            <a:solidFill>
              <a:srgbClr val="F0A93A"/>
            </a:solidFill>
            <a:prstDash val="solid"/>
          </a:ln>
        </p:spPr>
        <p:txBody>
          <a:bodyPr/>
          <a:lstStyle/>
          <a:p>
            <a:endParaRPr lang="en-IN"/>
          </a:p>
        </p:txBody>
      </p:sp>
      <p:sp>
        <p:nvSpPr>
          <p:cNvPr id="17" name="Shape 15"/>
          <p:cNvSpPr/>
          <p:nvPr/>
        </p:nvSpPr>
        <p:spPr>
          <a:xfrm>
            <a:off x="6281928" y="2350008"/>
            <a:ext cx="329184" cy="329184"/>
          </a:xfrm>
          <a:prstGeom prst="ellipse">
            <a:avLst/>
          </a:prstGeom>
          <a:solidFill>
            <a:srgbClr val="F0A93A"/>
          </a:solidFill>
          <a:ln/>
        </p:spPr>
        <p:txBody>
          <a:bodyPr/>
          <a:lstStyle/>
          <a:p>
            <a:endParaRPr lang="en-IN"/>
          </a:p>
        </p:txBody>
      </p:sp>
      <p:sp>
        <p:nvSpPr>
          <p:cNvPr id="18" name="Text 16"/>
          <p:cNvSpPr/>
          <p:nvPr/>
        </p:nvSpPr>
        <p:spPr>
          <a:xfrm>
            <a:off x="6281928" y="2350008"/>
            <a:ext cx="329184" cy="329184"/>
          </a:xfrm>
          <a:prstGeom prst="rect">
            <a:avLst/>
          </a:prstGeom>
          <a:noFill/>
          <a:ln/>
        </p:spPr>
        <p:txBody>
          <a:bodyPr wrap="square" rtlCol="0" anchor="ctr"/>
          <a:lstStyle/>
          <a:p>
            <a:pPr marL="0" indent="0" algn="ctr">
              <a:buNone/>
            </a:pPr>
            <a:r>
              <a:rPr lang="en-US" sz="1400" b="1" dirty="0">
                <a:solidFill>
                  <a:srgbClr val="3B1656"/>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6739128" y="2276856"/>
            <a:ext cx="4480560" cy="457200"/>
          </a:xfrm>
          <a:prstGeom prst="rect">
            <a:avLst/>
          </a:prstGeom>
          <a:noFill/>
          <a:ln/>
        </p:spPr>
        <p:txBody>
          <a:bodyPr wrap="square" rtlCol="0" anchor="ctr"/>
          <a:lstStyle/>
          <a:p>
            <a:pPr marL="0" indent="0">
              <a:buNone/>
            </a:pPr>
            <a:r>
              <a:rPr lang="en-US" sz="1400" b="1" dirty="0">
                <a:solidFill>
                  <a:srgbClr val="3B1656"/>
                </a:solidFill>
                <a:latin typeface="Cambria" pitchFamily="34" charset="0"/>
                <a:ea typeface="Cambria" pitchFamily="34" charset="-122"/>
                <a:cs typeface="Cambria" pitchFamily="34" charset="-120"/>
              </a:rPr>
              <a:t>Revenue leans on 3 categories</a:t>
            </a:r>
            <a:endParaRPr lang="en-US" sz="1400" dirty="0"/>
          </a:p>
        </p:txBody>
      </p:sp>
      <p:sp>
        <p:nvSpPr>
          <p:cNvPr id="20" name="Text 18"/>
          <p:cNvSpPr/>
          <p:nvPr/>
        </p:nvSpPr>
        <p:spPr>
          <a:xfrm>
            <a:off x="6281928" y="2770632"/>
            <a:ext cx="4946904" cy="822960"/>
          </a:xfrm>
          <a:prstGeom prst="rect">
            <a:avLst/>
          </a:prstGeom>
          <a:noFill/>
          <a:ln/>
        </p:spPr>
        <p:txBody>
          <a:bodyPr wrap="square" rtlCol="0" anchor="ctr"/>
          <a:lstStyle/>
          <a:p>
            <a:pPr marL="0" indent="0">
              <a:lnSpc>
                <a:spcPts val="1300"/>
              </a:lnSpc>
              <a:buNone/>
            </a:pPr>
            <a:r>
              <a:rPr lang="en-US" sz="1050" dirty="0">
                <a:solidFill>
                  <a:srgbClr val="2A1338"/>
                </a:solidFill>
                <a:latin typeface="Calibri" pitchFamily="34" charset="0"/>
                <a:ea typeface="Calibri" pitchFamily="34" charset="-122"/>
                <a:cs typeface="Calibri" pitchFamily="34" charset="-120"/>
              </a:rPr>
              <a:t>Health &amp; Beauty, Watches &amp; Gifts and Bed &amp; Bath together drive a disproportionate share of sales — a narrow product mix that carries real risk if any one of them slows down.</a:t>
            </a:r>
            <a:endParaRPr lang="en-US" sz="1050" dirty="0"/>
          </a:p>
        </p:txBody>
      </p:sp>
      <p:sp>
        <p:nvSpPr>
          <p:cNvPr id="21" name="Shape 19"/>
          <p:cNvSpPr/>
          <p:nvPr/>
        </p:nvSpPr>
        <p:spPr>
          <a:xfrm>
            <a:off x="548640" y="3758184"/>
            <a:ext cx="5349240" cy="1481328"/>
          </a:xfrm>
          <a:prstGeom prst="roundRect">
            <a:avLst>
              <a:gd name="adj" fmla="val 4938"/>
            </a:avLst>
          </a:prstGeom>
          <a:solidFill>
            <a:srgbClr val="FCF2E0"/>
          </a:solidFill>
          <a:ln w="12700">
            <a:solidFill>
              <a:srgbClr val="F0A93A"/>
            </a:solidFill>
            <a:prstDash val="solid"/>
          </a:ln>
        </p:spPr>
        <p:txBody>
          <a:bodyPr/>
          <a:lstStyle/>
          <a:p>
            <a:endParaRPr lang="en-IN"/>
          </a:p>
        </p:txBody>
      </p:sp>
      <p:sp>
        <p:nvSpPr>
          <p:cNvPr id="22" name="Shape 20"/>
          <p:cNvSpPr/>
          <p:nvPr/>
        </p:nvSpPr>
        <p:spPr>
          <a:xfrm>
            <a:off x="749808" y="3959352"/>
            <a:ext cx="329184" cy="329184"/>
          </a:xfrm>
          <a:prstGeom prst="ellipse">
            <a:avLst/>
          </a:prstGeom>
          <a:solidFill>
            <a:srgbClr val="F0A93A"/>
          </a:solidFill>
          <a:ln/>
        </p:spPr>
        <p:txBody>
          <a:bodyPr/>
          <a:lstStyle/>
          <a:p>
            <a:endParaRPr lang="en-IN"/>
          </a:p>
        </p:txBody>
      </p:sp>
      <p:sp>
        <p:nvSpPr>
          <p:cNvPr id="23" name="Text 21"/>
          <p:cNvSpPr/>
          <p:nvPr/>
        </p:nvSpPr>
        <p:spPr>
          <a:xfrm>
            <a:off x="749808" y="3959352"/>
            <a:ext cx="329184" cy="329184"/>
          </a:xfrm>
          <a:prstGeom prst="rect">
            <a:avLst/>
          </a:prstGeom>
          <a:noFill/>
          <a:ln/>
        </p:spPr>
        <p:txBody>
          <a:bodyPr wrap="square" rtlCol="0" anchor="ctr"/>
          <a:lstStyle/>
          <a:p>
            <a:pPr marL="0" indent="0" algn="ctr">
              <a:buNone/>
            </a:pPr>
            <a:r>
              <a:rPr lang="en-US" sz="1400" b="1" dirty="0">
                <a:solidFill>
                  <a:srgbClr val="3B1656"/>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1207008" y="3886200"/>
            <a:ext cx="4480560" cy="457200"/>
          </a:xfrm>
          <a:prstGeom prst="rect">
            <a:avLst/>
          </a:prstGeom>
          <a:noFill/>
          <a:ln/>
        </p:spPr>
        <p:txBody>
          <a:bodyPr wrap="square" rtlCol="0" anchor="ctr"/>
          <a:lstStyle/>
          <a:p>
            <a:pPr marL="0" indent="0">
              <a:buNone/>
            </a:pPr>
            <a:r>
              <a:rPr lang="en-US" sz="1400" b="1" dirty="0">
                <a:solidFill>
                  <a:srgbClr val="3B1656"/>
                </a:solidFill>
                <a:latin typeface="Cambria" pitchFamily="34" charset="0"/>
                <a:ea typeface="Cambria" pitchFamily="34" charset="-122"/>
                <a:cs typeface="Cambria" pitchFamily="34" charset="-120"/>
              </a:rPr>
              <a:t>An unexplained September dip</a:t>
            </a:r>
            <a:endParaRPr lang="en-US" sz="1400" dirty="0"/>
          </a:p>
        </p:txBody>
      </p:sp>
      <p:sp>
        <p:nvSpPr>
          <p:cNvPr id="25" name="Text 23"/>
          <p:cNvSpPr/>
          <p:nvPr/>
        </p:nvSpPr>
        <p:spPr>
          <a:xfrm>
            <a:off x="749808" y="4379976"/>
            <a:ext cx="4946904" cy="822960"/>
          </a:xfrm>
          <a:prstGeom prst="rect">
            <a:avLst/>
          </a:prstGeom>
          <a:noFill/>
          <a:ln/>
        </p:spPr>
        <p:txBody>
          <a:bodyPr wrap="square" rtlCol="0" anchor="ctr"/>
          <a:lstStyle/>
          <a:p>
            <a:pPr marL="0" indent="0">
              <a:lnSpc>
                <a:spcPts val="1300"/>
              </a:lnSpc>
              <a:buNone/>
            </a:pPr>
            <a:r>
              <a:rPr lang="en-US" sz="1050" dirty="0">
                <a:solidFill>
                  <a:srgbClr val="2A1338"/>
                </a:solidFill>
                <a:latin typeface="Calibri" pitchFamily="34" charset="0"/>
                <a:ea typeface="Calibri" pitchFamily="34" charset="-122"/>
                <a:cs typeface="Calibri" pitchFamily="34" charset="-120"/>
              </a:rPr>
              <a:t>Sales are steady most months but fall sharply in September alone. Because it's isolated rather than gradual, it likely has a specific cause — stock, marketing, or seasonality — worth investigating directly.</a:t>
            </a:r>
            <a:endParaRPr lang="en-US" sz="1050" dirty="0"/>
          </a:p>
        </p:txBody>
      </p:sp>
      <p:sp>
        <p:nvSpPr>
          <p:cNvPr id="26" name="Shape 24"/>
          <p:cNvSpPr/>
          <p:nvPr/>
        </p:nvSpPr>
        <p:spPr>
          <a:xfrm>
            <a:off x="6080760" y="3758184"/>
            <a:ext cx="5349240" cy="1481328"/>
          </a:xfrm>
          <a:prstGeom prst="roundRect">
            <a:avLst>
              <a:gd name="adj" fmla="val 4938"/>
            </a:avLst>
          </a:prstGeom>
          <a:solidFill>
            <a:srgbClr val="EAF4EE"/>
          </a:solidFill>
          <a:ln w="12700">
            <a:solidFill>
              <a:srgbClr val="3E8E5A"/>
            </a:solidFill>
            <a:prstDash val="solid"/>
          </a:ln>
        </p:spPr>
        <p:txBody>
          <a:bodyPr/>
          <a:lstStyle/>
          <a:p>
            <a:endParaRPr lang="en-IN"/>
          </a:p>
        </p:txBody>
      </p:sp>
      <p:sp>
        <p:nvSpPr>
          <p:cNvPr id="27" name="Shape 25"/>
          <p:cNvSpPr/>
          <p:nvPr/>
        </p:nvSpPr>
        <p:spPr>
          <a:xfrm>
            <a:off x="6281928" y="3959352"/>
            <a:ext cx="329184" cy="329184"/>
          </a:xfrm>
          <a:prstGeom prst="ellipse">
            <a:avLst/>
          </a:prstGeom>
          <a:solidFill>
            <a:srgbClr val="3E8E5A"/>
          </a:solidFill>
          <a:ln/>
        </p:spPr>
        <p:txBody>
          <a:bodyPr/>
          <a:lstStyle/>
          <a:p>
            <a:endParaRPr lang="en-IN"/>
          </a:p>
        </p:txBody>
      </p:sp>
      <p:sp>
        <p:nvSpPr>
          <p:cNvPr id="28" name="Text 26"/>
          <p:cNvSpPr/>
          <p:nvPr/>
        </p:nvSpPr>
        <p:spPr>
          <a:xfrm>
            <a:off x="6281928" y="3959352"/>
            <a:ext cx="329184" cy="32918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6739128" y="3886200"/>
            <a:ext cx="4480560" cy="457200"/>
          </a:xfrm>
          <a:prstGeom prst="rect">
            <a:avLst/>
          </a:prstGeom>
          <a:noFill/>
          <a:ln/>
        </p:spPr>
        <p:txBody>
          <a:bodyPr wrap="square" rtlCol="0" anchor="ctr"/>
          <a:lstStyle/>
          <a:p>
            <a:pPr marL="0" indent="0">
              <a:buNone/>
            </a:pPr>
            <a:r>
              <a:rPr lang="en-US" sz="1400" b="1" dirty="0">
                <a:solidFill>
                  <a:srgbClr val="3B1656"/>
                </a:solidFill>
                <a:latin typeface="Cambria" pitchFamily="34" charset="0"/>
                <a:ea typeface="Cambria" pitchFamily="34" charset="-122"/>
                <a:cs typeface="Cambria" pitchFamily="34" charset="-120"/>
              </a:rPr>
              <a:t>Early delivery, happier customers</a:t>
            </a:r>
            <a:endParaRPr lang="en-US" sz="1400" dirty="0"/>
          </a:p>
        </p:txBody>
      </p:sp>
      <p:sp>
        <p:nvSpPr>
          <p:cNvPr id="30" name="Text 28"/>
          <p:cNvSpPr/>
          <p:nvPr/>
        </p:nvSpPr>
        <p:spPr>
          <a:xfrm>
            <a:off x="6281928" y="4379976"/>
            <a:ext cx="4946904" cy="822960"/>
          </a:xfrm>
          <a:prstGeom prst="rect">
            <a:avLst/>
          </a:prstGeom>
          <a:noFill/>
          <a:ln/>
        </p:spPr>
        <p:txBody>
          <a:bodyPr wrap="square" rtlCol="0" anchor="ctr"/>
          <a:lstStyle/>
          <a:p>
            <a:pPr marL="0" indent="0">
              <a:lnSpc>
                <a:spcPts val="1300"/>
              </a:lnSpc>
              <a:buNone/>
            </a:pPr>
            <a:r>
              <a:rPr lang="en-US" sz="1050" dirty="0">
                <a:solidFill>
                  <a:srgbClr val="2A1338"/>
                </a:solidFill>
                <a:latin typeface="Calibri" pitchFamily="34" charset="0"/>
                <a:ea typeface="Calibri" pitchFamily="34" charset="-122"/>
                <a:cs typeface="Calibri" pitchFamily="34" charset="-120"/>
              </a:rPr>
              <a:t>Orders arrive about 13 days ahead of the estimate on average, and this lines up with strong review scores — suggesting delivery reliability shapes satisfaction more than price or product alone.</a:t>
            </a:r>
            <a:endParaRPr lang="en-US" sz="1050" dirty="0"/>
          </a:p>
        </p:txBody>
      </p:sp>
      <p:sp>
        <p:nvSpPr>
          <p:cNvPr id="31" name="Shape 29"/>
          <p:cNvSpPr/>
          <p:nvPr/>
        </p:nvSpPr>
        <p:spPr>
          <a:xfrm>
            <a:off x="548640" y="5367528"/>
            <a:ext cx="5349240" cy="1481328"/>
          </a:xfrm>
          <a:prstGeom prst="roundRect">
            <a:avLst>
              <a:gd name="adj" fmla="val 4938"/>
            </a:avLst>
          </a:prstGeom>
          <a:solidFill>
            <a:srgbClr val="EAF4EE"/>
          </a:solidFill>
          <a:ln w="12700">
            <a:solidFill>
              <a:srgbClr val="3E8E5A"/>
            </a:solidFill>
            <a:prstDash val="solid"/>
          </a:ln>
        </p:spPr>
        <p:txBody>
          <a:bodyPr/>
          <a:lstStyle/>
          <a:p>
            <a:endParaRPr lang="en-IN"/>
          </a:p>
        </p:txBody>
      </p:sp>
      <p:sp>
        <p:nvSpPr>
          <p:cNvPr id="32" name="Shape 30"/>
          <p:cNvSpPr/>
          <p:nvPr/>
        </p:nvSpPr>
        <p:spPr>
          <a:xfrm>
            <a:off x="749808" y="5568696"/>
            <a:ext cx="329184" cy="329184"/>
          </a:xfrm>
          <a:prstGeom prst="ellipse">
            <a:avLst/>
          </a:prstGeom>
          <a:solidFill>
            <a:srgbClr val="3E8E5A"/>
          </a:solidFill>
          <a:ln/>
        </p:spPr>
        <p:txBody>
          <a:bodyPr/>
          <a:lstStyle/>
          <a:p>
            <a:endParaRPr lang="en-IN"/>
          </a:p>
        </p:txBody>
      </p:sp>
      <p:sp>
        <p:nvSpPr>
          <p:cNvPr id="33" name="Text 31"/>
          <p:cNvSpPr/>
          <p:nvPr/>
        </p:nvSpPr>
        <p:spPr>
          <a:xfrm>
            <a:off x="749808" y="5568696"/>
            <a:ext cx="329184" cy="32918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1207008" y="5495544"/>
            <a:ext cx="4480560" cy="457200"/>
          </a:xfrm>
          <a:prstGeom prst="rect">
            <a:avLst/>
          </a:prstGeom>
          <a:noFill/>
          <a:ln/>
        </p:spPr>
        <p:txBody>
          <a:bodyPr wrap="square" rtlCol="0" anchor="ctr"/>
          <a:lstStyle/>
          <a:p>
            <a:pPr marL="0" indent="0">
              <a:buNone/>
            </a:pPr>
            <a:r>
              <a:rPr lang="en-US" sz="1400" b="1" dirty="0">
                <a:solidFill>
                  <a:srgbClr val="3B1656"/>
                </a:solidFill>
                <a:latin typeface="Cambria" pitchFamily="34" charset="0"/>
                <a:ea typeface="Cambria" pitchFamily="34" charset="-122"/>
                <a:cs typeface="Cambria" pitchFamily="34" charset="-120"/>
              </a:rPr>
              <a:t>Southeast Brazil is the core market</a:t>
            </a:r>
            <a:endParaRPr lang="en-US" sz="1400" dirty="0"/>
          </a:p>
        </p:txBody>
      </p:sp>
      <p:sp>
        <p:nvSpPr>
          <p:cNvPr id="35" name="Text 33"/>
          <p:cNvSpPr/>
          <p:nvPr/>
        </p:nvSpPr>
        <p:spPr>
          <a:xfrm>
            <a:off x="749808" y="5989320"/>
            <a:ext cx="4946904" cy="822960"/>
          </a:xfrm>
          <a:prstGeom prst="rect">
            <a:avLst/>
          </a:prstGeom>
          <a:noFill/>
          <a:ln/>
        </p:spPr>
        <p:txBody>
          <a:bodyPr wrap="square" rtlCol="0" anchor="ctr"/>
          <a:lstStyle/>
          <a:p>
            <a:pPr marL="0" indent="0">
              <a:lnSpc>
                <a:spcPts val="1300"/>
              </a:lnSpc>
              <a:buNone/>
            </a:pPr>
            <a:r>
              <a:rPr lang="en-US" sz="1050" dirty="0">
                <a:solidFill>
                  <a:srgbClr val="2A1338"/>
                </a:solidFill>
                <a:latin typeface="Calibri" pitchFamily="34" charset="0"/>
                <a:ea typeface="Calibri" pitchFamily="34" charset="-122"/>
                <a:cs typeface="Calibri" pitchFamily="34" charset="-120"/>
              </a:rPr>
              <a:t>Revenue concentrates heavily around São Paulo and the southeast. This shows exactly where the existing customer base is strongest, and where logistics or marketing spend pays off fastest.</a:t>
            </a:r>
            <a:endParaRPr lang="en-US" sz="1050" dirty="0"/>
          </a:p>
        </p:txBody>
      </p:sp>
      <p:sp>
        <p:nvSpPr>
          <p:cNvPr id="36" name="Shape 34"/>
          <p:cNvSpPr/>
          <p:nvPr/>
        </p:nvSpPr>
        <p:spPr>
          <a:xfrm>
            <a:off x="6080760" y="5367528"/>
            <a:ext cx="5349240" cy="1481328"/>
          </a:xfrm>
          <a:prstGeom prst="roundRect">
            <a:avLst>
              <a:gd name="adj" fmla="val 4938"/>
            </a:avLst>
          </a:prstGeom>
          <a:solidFill>
            <a:srgbClr val="FCF2E0"/>
          </a:solidFill>
          <a:ln w="12700">
            <a:solidFill>
              <a:srgbClr val="F0A93A"/>
            </a:solidFill>
            <a:prstDash val="solid"/>
          </a:ln>
        </p:spPr>
        <p:txBody>
          <a:bodyPr/>
          <a:lstStyle/>
          <a:p>
            <a:endParaRPr lang="en-IN"/>
          </a:p>
        </p:txBody>
      </p:sp>
      <p:sp>
        <p:nvSpPr>
          <p:cNvPr id="37" name="Shape 35"/>
          <p:cNvSpPr/>
          <p:nvPr/>
        </p:nvSpPr>
        <p:spPr>
          <a:xfrm>
            <a:off x="6281928" y="5568696"/>
            <a:ext cx="329184" cy="329184"/>
          </a:xfrm>
          <a:prstGeom prst="ellipse">
            <a:avLst/>
          </a:prstGeom>
          <a:solidFill>
            <a:srgbClr val="F0A93A"/>
          </a:solidFill>
          <a:ln/>
        </p:spPr>
        <p:txBody>
          <a:bodyPr/>
          <a:lstStyle/>
          <a:p>
            <a:endParaRPr lang="en-IN"/>
          </a:p>
        </p:txBody>
      </p:sp>
      <p:sp>
        <p:nvSpPr>
          <p:cNvPr id="38" name="Text 36"/>
          <p:cNvSpPr/>
          <p:nvPr/>
        </p:nvSpPr>
        <p:spPr>
          <a:xfrm>
            <a:off x="6281928" y="5568696"/>
            <a:ext cx="329184" cy="329184"/>
          </a:xfrm>
          <a:prstGeom prst="rect">
            <a:avLst/>
          </a:prstGeom>
          <a:noFill/>
          <a:ln/>
        </p:spPr>
        <p:txBody>
          <a:bodyPr wrap="square" rtlCol="0" anchor="ctr"/>
          <a:lstStyle/>
          <a:p>
            <a:pPr marL="0" indent="0" algn="ctr">
              <a:buNone/>
            </a:pPr>
            <a:r>
              <a:rPr lang="en-US" sz="1400" b="1" dirty="0">
                <a:solidFill>
                  <a:srgbClr val="3B1656"/>
                </a:solidFill>
                <a:latin typeface="Calibri" pitchFamily="34" charset="0"/>
                <a:ea typeface="Calibri" pitchFamily="34" charset="-122"/>
                <a:cs typeface="Calibri" pitchFamily="34" charset="-120"/>
              </a:rPr>
              <a:t>!</a:t>
            </a:r>
            <a:endParaRPr lang="en-US" sz="1400" dirty="0"/>
          </a:p>
        </p:txBody>
      </p:sp>
      <p:sp>
        <p:nvSpPr>
          <p:cNvPr id="39" name="Text 37"/>
          <p:cNvSpPr/>
          <p:nvPr/>
        </p:nvSpPr>
        <p:spPr>
          <a:xfrm>
            <a:off x="6739128" y="5495544"/>
            <a:ext cx="4480560" cy="457200"/>
          </a:xfrm>
          <a:prstGeom prst="rect">
            <a:avLst/>
          </a:prstGeom>
          <a:noFill/>
          <a:ln/>
        </p:spPr>
        <p:txBody>
          <a:bodyPr wrap="square" rtlCol="0" anchor="ctr"/>
          <a:lstStyle/>
          <a:p>
            <a:pPr marL="0" indent="0">
              <a:buNone/>
            </a:pPr>
            <a:r>
              <a:rPr lang="en-US" sz="1400" b="1" dirty="0">
                <a:solidFill>
                  <a:srgbClr val="3B1656"/>
                </a:solidFill>
                <a:latin typeface="Cambria" pitchFamily="34" charset="0"/>
                <a:ea typeface="Cambria" pitchFamily="34" charset="-122"/>
                <a:cs typeface="Cambria" pitchFamily="34" charset="-120"/>
              </a:rPr>
              <a:t>A few categories are underperforming</a:t>
            </a:r>
            <a:endParaRPr lang="en-US" sz="1400" dirty="0"/>
          </a:p>
        </p:txBody>
      </p:sp>
      <p:sp>
        <p:nvSpPr>
          <p:cNvPr id="40" name="Text 38"/>
          <p:cNvSpPr/>
          <p:nvPr/>
        </p:nvSpPr>
        <p:spPr>
          <a:xfrm>
            <a:off x="6281928" y="5989320"/>
            <a:ext cx="4946904" cy="822960"/>
          </a:xfrm>
          <a:prstGeom prst="rect">
            <a:avLst/>
          </a:prstGeom>
          <a:noFill/>
          <a:ln/>
        </p:spPr>
        <p:txBody>
          <a:bodyPr wrap="square" rtlCol="0" anchor="ctr"/>
          <a:lstStyle/>
          <a:p>
            <a:pPr marL="0" indent="0">
              <a:lnSpc>
                <a:spcPts val="1300"/>
              </a:lnSpc>
              <a:buNone/>
            </a:pPr>
            <a:r>
              <a:rPr lang="en-US" sz="1050" dirty="0">
                <a:solidFill>
                  <a:srgbClr val="2A1338"/>
                </a:solidFill>
                <a:latin typeface="Calibri" pitchFamily="34" charset="0"/>
                <a:ea typeface="Calibri" pitchFamily="34" charset="-122"/>
                <a:cs typeface="Calibri" pitchFamily="34" charset="-120"/>
              </a:rPr>
              <a:t>Plotting review score against revenue isolates categories with both low sales and low ratings — these are quietly hurting revenue and reputation together, and are the first candidates for a deeper audit.</a:t>
            </a:r>
            <a:endParaRPr lang="en-US" sz="1050" dirty="0"/>
          </a:p>
        </p:txBody>
      </p:sp>
      <p:sp>
        <p:nvSpPr>
          <p:cNvPr id="42" name="Text 39"/>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5878"/>
                </a:solidFill>
                <a:latin typeface="Calibri" pitchFamily="34" charset="0"/>
                <a:ea typeface="Calibri" pitchFamily="34" charset="-122"/>
                <a:cs typeface="Calibri" pitchFamily="34" charset="-120"/>
              </a:rPr>
              <a:t>10</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7A3E9D"/>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2A1338"/>
                </a:solidFill>
                <a:latin typeface="Cambria" pitchFamily="34" charset="0"/>
                <a:ea typeface="Cambria" pitchFamily="34" charset="-122"/>
                <a:cs typeface="Cambria" pitchFamily="34" charset="-120"/>
              </a:rPr>
              <a:t>The 10 Business Questions — Answered</a:t>
            </a:r>
            <a:endParaRPr lang="en-US" sz="3000" dirty="0"/>
          </a:p>
        </p:txBody>
      </p:sp>
      <p:sp>
        <p:nvSpPr>
          <p:cNvPr id="4" name="Shape 2"/>
          <p:cNvSpPr/>
          <p:nvPr/>
        </p:nvSpPr>
        <p:spPr>
          <a:xfrm>
            <a:off x="548640" y="1481328"/>
            <a:ext cx="5440680" cy="804672"/>
          </a:xfrm>
          <a:prstGeom prst="roundRect">
            <a:avLst>
              <a:gd name="adj" fmla="val 6818"/>
            </a:avLst>
          </a:prstGeom>
          <a:solidFill>
            <a:srgbClr val="E9DEF2"/>
          </a:solidFill>
          <a:ln w="9525">
            <a:solidFill>
              <a:srgbClr val="E3D5EE"/>
            </a:solidFill>
            <a:prstDash val="solid"/>
          </a:ln>
        </p:spPr>
        <p:txBody>
          <a:bodyPr/>
          <a:lstStyle/>
          <a:p>
            <a:endParaRPr lang="en-IN"/>
          </a:p>
        </p:txBody>
      </p:sp>
      <p:sp>
        <p:nvSpPr>
          <p:cNvPr id="5" name="Shape 3"/>
          <p:cNvSpPr/>
          <p:nvPr/>
        </p:nvSpPr>
        <p:spPr>
          <a:xfrm>
            <a:off x="676656" y="1609344"/>
            <a:ext cx="457200" cy="457200"/>
          </a:xfrm>
          <a:prstGeom prst="ellipse">
            <a:avLst/>
          </a:prstGeom>
          <a:solidFill>
            <a:srgbClr val="3B1656"/>
          </a:solidFill>
          <a:ln/>
        </p:spPr>
        <p:txBody>
          <a:bodyPr/>
          <a:lstStyle/>
          <a:p>
            <a:endParaRPr lang="en-IN"/>
          </a:p>
        </p:txBody>
      </p:sp>
      <p:sp>
        <p:nvSpPr>
          <p:cNvPr id="6" name="Text 4"/>
          <p:cNvSpPr/>
          <p:nvPr/>
        </p:nvSpPr>
        <p:spPr>
          <a:xfrm>
            <a:off x="676656" y="1609344"/>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1261872" y="1517904"/>
            <a:ext cx="4572000" cy="292608"/>
          </a:xfrm>
          <a:prstGeom prst="rect">
            <a:avLst/>
          </a:prstGeom>
          <a:noFill/>
          <a:ln/>
        </p:spPr>
        <p:txBody>
          <a:bodyPr wrap="square" rtlCol="0" anchor="ctr"/>
          <a:lstStyle/>
          <a:p>
            <a:pPr marL="0" indent="0">
              <a:buNone/>
            </a:pPr>
            <a:r>
              <a:rPr lang="en-US" sz="1250" b="1" dirty="0">
                <a:solidFill>
                  <a:srgbClr val="3B1656"/>
                </a:solidFill>
                <a:latin typeface="Cambria" pitchFamily="34" charset="0"/>
                <a:ea typeface="Cambria" pitchFamily="34" charset="-122"/>
                <a:cs typeface="Cambria" pitchFamily="34" charset="-120"/>
              </a:rPr>
              <a:t>Overall revenue generated?</a:t>
            </a:r>
            <a:endParaRPr lang="en-US" sz="1250" dirty="0"/>
          </a:p>
        </p:txBody>
      </p:sp>
      <p:sp>
        <p:nvSpPr>
          <p:cNvPr id="8" name="Text 6"/>
          <p:cNvSpPr/>
          <p:nvPr/>
        </p:nvSpPr>
        <p:spPr>
          <a:xfrm>
            <a:off x="1261872" y="1810512"/>
            <a:ext cx="4572000" cy="411480"/>
          </a:xfrm>
          <a:prstGeom prst="rect">
            <a:avLst/>
          </a:prstGeom>
          <a:noFill/>
          <a:ln/>
        </p:spPr>
        <p:txBody>
          <a:bodyPr wrap="square" rtlCol="0" anchor="ctr"/>
          <a:lstStyle/>
          <a:p>
            <a:pPr marL="0" indent="0">
              <a:lnSpc>
                <a:spcPts val="1200"/>
              </a:lnSpc>
              <a:buNone/>
            </a:pPr>
            <a:r>
              <a:rPr lang="en-US" sz="1050" dirty="0">
                <a:solidFill>
                  <a:srgbClr val="2A1338"/>
                </a:solidFill>
                <a:latin typeface="Calibri" pitchFamily="34" charset="0"/>
                <a:ea typeface="Calibri" pitchFamily="34" charset="-122"/>
                <a:cs typeface="Calibri" pitchFamily="34" charset="-120"/>
              </a:rPr>
              <a:t>₹13.59M from 96K orders; avg order value ₹140.90.</a:t>
            </a:r>
            <a:endParaRPr lang="en-US" sz="1050" dirty="0"/>
          </a:p>
        </p:txBody>
      </p:sp>
      <p:sp>
        <p:nvSpPr>
          <p:cNvPr id="9" name="Shape 7"/>
          <p:cNvSpPr/>
          <p:nvPr/>
        </p:nvSpPr>
        <p:spPr>
          <a:xfrm>
            <a:off x="548640" y="2414016"/>
            <a:ext cx="5440680" cy="804672"/>
          </a:xfrm>
          <a:prstGeom prst="roundRect">
            <a:avLst>
              <a:gd name="adj" fmla="val 6818"/>
            </a:avLst>
          </a:prstGeom>
          <a:solidFill>
            <a:srgbClr val="FBF9FD"/>
          </a:solidFill>
          <a:ln w="9525">
            <a:solidFill>
              <a:srgbClr val="E3D5EE"/>
            </a:solidFill>
            <a:prstDash val="solid"/>
          </a:ln>
        </p:spPr>
        <p:txBody>
          <a:bodyPr/>
          <a:lstStyle/>
          <a:p>
            <a:endParaRPr lang="en-IN"/>
          </a:p>
        </p:txBody>
      </p:sp>
      <p:sp>
        <p:nvSpPr>
          <p:cNvPr id="10" name="Shape 8"/>
          <p:cNvSpPr/>
          <p:nvPr/>
        </p:nvSpPr>
        <p:spPr>
          <a:xfrm>
            <a:off x="676656" y="2542032"/>
            <a:ext cx="457200" cy="457200"/>
          </a:xfrm>
          <a:prstGeom prst="ellipse">
            <a:avLst/>
          </a:prstGeom>
          <a:solidFill>
            <a:srgbClr val="3B1656"/>
          </a:solidFill>
          <a:ln/>
        </p:spPr>
        <p:txBody>
          <a:bodyPr/>
          <a:lstStyle/>
          <a:p>
            <a:endParaRPr lang="en-IN"/>
          </a:p>
        </p:txBody>
      </p:sp>
      <p:sp>
        <p:nvSpPr>
          <p:cNvPr id="11" name="Text 9"/>
          <p:cNvSpPr/>
          <p:nvPr/>
        </p:nvSpPr>
        <p:spPr>
          <a:xfrm>
            <a:off x="676656" y="2542032"/>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p:nvPr/>
        </p:nvSpPr>
        <p:spPr>
          <a:xfrm>
            <a:off x="1261872" y="2450592"/>
            <a:ext cx="4572000" cy="292608"/>
          </a:xfrm>
          <a:prstGeom prst="rect">
            <a:avLst/>
          </a:prstGeom>
          <a:noFill/>
          <a:ln/>
        </p:spPr>
        <p:txBody>
          <a:bodyPr wrap="square" rtlCol="0" anchor="ctr"/>
          <a:lstStyle/>
          <a:p>
            <a:pPr marL="0" indent="0">
              <a:buNone/>
            </a:pPr>
            <a:r>
              <a:rPr lang="en-US" sz="1250" b="1" dirty="0">
                <a:solidFill>
                  <a:srgbClr val="3B1656"/>
                </a:solidFill>
                <a:latin typeface="Cambria" pitchFamily="34" charset="0"/>
                <a:ea typeface="Cambria" pitchFamily="34" charset="-122"/>
                <a:cs typeface="Cambria" pitchFamily="34" charset="-120"/>
              </a:rPr>
              <a:t>Top products &amp; categories?</a:t>
            </a:r>
            <a:endParaRPr lang="en-US" sz="1250" dirty="0"/>
          </a:p>
        </p:txBody>
      </p:sp>
      <p:sp>
        <p:nvSpPr>
          <p:cNvPr id="13" name="Text 11"/>
          <p:cNvSpPr/>
          <p:nvPr/>
        </p:nvSpPr>
        <p:spPr>
          <a:xfrm>
            <a:off x="1261872" y="2743200"/>
            <a:ext cx="4572000" cy="411480"/>
          </a:xfrm>
          <a:prstGeom prst="rect">
            <a:avLst/>
          </a:prstGeom>
          <a:noFill/>
          <a:ln/>
        </p:spPr>
        <p:txBody>
          <a:bodyPr wrap="square" rtlCol="0" anchor="ctr"/>
          <a:lstStyle/>
          <a:p>
            <a:pPr marL="0" indent="0">
              <a:lnSpc>
                <a:spcPts val="1200"/>
              </a:lnSpc>
              <a:buNone/>
            </a:pPr>
            <a:r>
              <a:rPr lang="en-US" sz="1050" dirty="0">
                <a:solidFill>
                  <a:srgbClr val="2A1338"/>
                </a:solidFill>
                <a:latin typeface="Calibri" pitchFamily="34" charset="0"/>
                <a:ea typeface="Calibri" pitchFamily="34" charset="-122"/>
                <a:cs typeface="Calibri" pitchFamily="34" charset="-120"/>
              </a:rPr>
              <a:t>Health &amp; Beauty, Watches &amp; Gifts, Bed &amp; Bath Table lead.</a:t>
            </a:r>
            <a:endParaRPr lang="en-US" sz="1050" dirty="0"/>
          </a:p>
        </p:txBody>
      </p:sp>
      <p:sp>
        <p:nvSpPr>
          <p:cNvPr id="14" name="Shape 12"/>
          <p:cNvSpPr/>
          <p:nvPr/>
        </p:nvSpPr>
        <p:spPr>
          <a:xfrm>
            <a:off x="548640" y="3346704"/>
            <a:ext cx="5440680" cy="804672"/>
          </a:xfrm>
          <a:prstGeom prst="roundRect">
            <a:avLst>
              <a:gd name="adj" fmla="val 6818"/>
            </a:avLst>
          </a:prstGeom>
          <a:solidFill>
            <a:srgbClr val="E9DEF2"/>
          </a:solidFill>
          <a:ln w="9525">
            <a:solidFill>
              <a:srgbClr val="E3D5EE"/>
            </a:solidFill>
            <a:prstDash val="solid"/>
          </a:ln>
        </p:spPr>
        <p:txBody>
          <a:bodyPr/>
          <a:lstStyle/>
          <a:p>
            <a:endParaRPr lang="en-IN"/>
          </a:p>
        </p:txBody>
      </p:sp>
      <p:sp>
        <p:nvSpPr>
          <p:cNvPr id="15" name="Shape 13"/>
          <p:cNvSpPr/>
          <p:nvPr/>
        </p:nvSpPr>
        <p:spPr>
          <a:xfrm>
            <a:off x="676656" y="3474720"/>
            <a:ext cx="457200" cy="457200"/>
          </a:xfrm>
          <a:prstGeom prst="ellipse">
            <a:avLst/>
          </a:prstGeom>
          <a:solidFill>
            <a:srgbClr val="3B1656"/>
          </a:solidFill>
          <a:ln/>
        </p:spPr>
        <p:txBody>
          <a:bodyPr/>
          <a:lstStyle/>
          <a:p>
            <a:endParaRPr lang="en-IN"/>
          </a:p>
        </p:txBody>
      </p:sp>
      <p:sp>
        <p:nvSpPr>
          <p:cNvPr id="16" name="Text 14"/>
          <p:cNvSpPr/>
          <p:nvPr/>
        </p:nvSpPr>
        <p:spPr>
          <a:xfrm>
            <a:off x="676656" y="3474720"/>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7" name="Text 15"/>
          <p:cNvSpPr/>
          <p:nvPr/>
        </p:nvSpPr>
        <p:spPr>
          <a:xfrm>
            <a:off x="1261872" y="3383280"/>
            <a:ext cx="4572000" cy="292608"/>
          </a:xfrm>
          <a:prstGeom prst="rect">
            <a:avLst/>
          </a:prstGeom>
          <a:noFill/>
          <a:ln/>
        </p:spPr>
        <p:txBody>
          <a:bodyPr wrap="square" rtlCol="0" anchor="ctr"/>
          <a:lstStyle/>
          <a:p>
            <a:pPr marL="0" indent="0">
              <a:buNone/>
            </a:pPr>
            <a:r>
              <a:rPr lang="en-US" sz="1250" b="1" dirty="0">
                <a:solidFill>
                  <a:srgbClr val="3B1656"/>
                </a:solidFill>
                <a:latin typeface="Cambria" pitchFamily="34" charset="0"/>
                <a:ea typeface="Cambria" pitchFamily="34" charset="-122"/>
                <a:cs typeface="Cambria" pitchFamily="34" charset="-120"/>
              </a:rPr>
              <a:t>Highest revenue customers?</a:t>
            </a:r>
            <a:endParaRPr lang="en-US" sz="1250" dirty="0"/>
          </a:p>
        </p:txBody>
      </p:sp>
      <p:sp>
        <p:nvSpPr>
          <p:cNvPr id="18" name="Text 16"/>
          <p:cNvSpPr/>
          <p:nvPr/>
        </p:nvSpPr>
        <p:spPr>
          <a:xfrm>
            <a:off x="1261872" y="3675888"/>
            <a:ext cx="4572000" cy="411480"/>
          </a:xfrm>
          <a:prstGeom prst="rect">
            <a:avLst/>
          </a:prstGeom>
          <a:noFill/>
          <a:ln/>
        </p:spPr>
        <p:txBody>
          <a:bodyPr wrap="square" rtlCol="0" anchor="ctr"/>
          <a:lstStyle/>
          <a:p>
            <a:pPr marL="0" indent="0">
              <a:lnSpc>
                <a:spcPts val="1200"/>
              </a:lnSpc>
              <a:buNone/>
            </a:pPr>
            <a:r>
              <a:rPr lang="en-US" sz="1050" dirty="0">
                <a:solidFill>
                  <a:srgbClr val="2A1338"/>
                </a:solidFill>
                <a:latin typeface="Calibri" pitchFamily="34" charset="0"/>
                <a:ea typeface="Calibri" pitchFamily="34" charset="-122"/>
                <a:cs typeface="Calibri" pitchFamily="34" charset="-120"/>
              </a:rPr>
              <a:t>Ranked in the Top Customers table by lifetime spend.</a:t>
            </a:r>
            <a:endParaRPr lang="en-US" sz="1050" dirty="0"/>
          </a:p>
        </p:txBody>
      </p:sp>
      <p:sp>
        <p:nvSpPr>
          <p:cNvPr id="19" name="Shape 17"/>
          <p:cNvSpPr/>
          <p:nvPr/>
        </p:nvSpPr>
        <p:spPr>
          <a:xfrm>
            <a:off x="548640" y="4279392"/>
            <a:ext cx="5440680" cy="804672"/>
          </a:xfrm>
          <a:prstGeom prst="roundRect">
            <a:avLst>
              <a:gd name="adj" fmla="val 6818"/>
            </a:avLst>
          </a:prstGeom>
          <a:solidFill>
            <a:srgbClr val="FBF9FD"/>
          </a:solidFill>
          <a:ln w="9525">
            <a:solidFill>
              <a:srgbClr val="E3D5EE"/>
            </a:solidFill>
            <a:prstDash val="solid"/>
          </a:ln>
        </p:spPr>
        <p:txBody>
          <a:bodyPr/>
          <a:lstStyle/>
          <a:p>
            <a:endParaRPr lang="en-IN"/>
          </a:p>
        </p:txBody>
      </p:sp>
      <p:sp>
        <p:nvSpPr>
          <p:cNvPr id="20" name="Shape 18"/>
          <p:cNvSpPr/>
          <p:nvPr/>
        </p:nvSpPr>
        <p:spPr>
          <a:xfrm>
            <a:off x="676656" y="4407408"/>
            <a:ext cx="457200" cy="457200"/>
          </a:xfrm>
          <a:prstGeom prst="ellipse">
            <a:avLst/>
          </a:prstGeom>
          <a:solidFill>
            <a:srgbClr val="3B1656"/>
          </a:solidFill>
          <a:ln/>
        </p:spPr>
        <p:txBody>
          <a:bodyPr/>
          <a:lstStyle/>
          <a:p>
            <a:endParaRPr lang="en-IN"/>
          </a:p>
        </p:txBody>
      </p:sp>
      <p:sp>
        <p:nvSpPr>
          <p:cNvPr id="21" name="Text 19"/>
          <p:cNvSpPr/>
          <p:nvPr/>
        </p:nvSpPr>
        <p:spPr>
          <a:xfrm>
            <a:off x="676656" y="4407408"/>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22" name="Text 20"/>
          <p:cNvSpPr/>
          <p:nvPr/>
        </p:nvSpPr>
        <p:spPr>
          <a:xfrm>
            <a:off x="1261872" y="4315968"/>
            <a:ext cx="4572000" cy="292608"/>
          </a:xfrm>
          <a:prstGeom prst="rect">
            <a:avLst/>
          </a:prstGeom>
          <a:noFill/>
          <a:ln/>
        </p:spPr>
        <p:txBody>
          <a:bodyPr wrap="square" rtlCol="0" anchor="ctr"/>
          <a:lstStyle/>
          <a:p>
            <a:pPr marL="0" indent="0">
              <a:buNone/>
            </a:pPr>
            <a:r>
              <a:rPr lang="en-US" sz="1250" b="1" dirty="0">
                <a:solidFill>
                  <a:srgbClr val="3B1656"/>
                </a:solidFill>
                <a:latin typeface="Cambria" pitchFamily="34" charset="0"/>
                <a:ea typeface="Cambria" pitchFamily="34" charset="-122"/>
                <a:cs typeface="Cambria" pitchFamily="34" charset="-120"/>
              </a:rPr>
              <a:t>Monthly sales trend?</a:t>
            </a:r>
            <a:endParaRPr lang="en-US" sz="1250" dirty="0"/>
          </a:p>
        </p:txBody>
      </p:sp>
      <p:sp>
        <p:nvSpPr>
          <p:cNvPr id="23" name="Text 21"/>
          <p:cNvSpPr/>
          <p:nvPr/>
        </p:nvSpPr>
        <p:spPr>
          <a:xfrm>
            <a:off x="1261872" y="4608576"/>
            <a:ext cx="4572000" cy="411480"/>
          </a:xfrm>
          <a:prstGeom prst="rect">
            <a:avLst/>
          </a:prstGeom>
          <a:noFill/>
          <a:ln/>
        </p:spPr>
        <p:txBody>
          <a:bodyPr wrap="square" rtlCol="0" anchor="ctr"/>
          <a:lstStyle/>
          <a:p>
            <a:pPr marL="0" indent="0">
              <a:lnSpc>
                <a:spcPts val="1200"/>
              </a:lnSpc>
              <a:buNone/>
            </a:pPr>
            <a:r>
              <a:rPr lang="en-US" sz="1050" dirty="0">
                <a:solidFill>
                  <a:srgbClr val="2A1338"/>
                </a:solidFill>
                <a:latin typeface="Calibri" pitchFamily="34" charset="0"/>
                <a:ea typeface="Calibri" pitchFamily="34" charset="-122"/>
                <a:cs typeface="Calibri" pitchFamily="34" charset="-120"/>
              </a:rPr>
              <a:t>Steady across the year, with a sharp dip in September.</a:t>
            </a:r>
            <a:endParaRPr lang="en-US" sz="1050" dirty="0"/>
          </a:p>
        </p:txBody>
      </p:sp>
      <p:sp>
        <p:nvSpPr>
          <p:cNvPr id="24" name="Shape 22"/>
          <p:cNvSpPr/>
          <p:nvPr/>
        </p:nvSpPr>
        <p:spPr>
          <a:xfrm>
            <a:off x="548640" y="5212080"/>
            <a:ext cx="5440680" cy="804672"/>
          </a:xfrm>
          <a:prstGeom prst="roundRect">
            <a:avLst>
              <a:gd name="adj" fmla="val 6818"/>
            </a:avLst>
          </a:prstGeom>
          <a:solidFill>
            <a:srgbClr val="E9DEF2"/>
          </a:solidFill>
          <a:ln w="9525">
            <a:solidFill>
              <a:srgbClr val="E3D5EE"/>
            </a:solidFill>
            <a:prstDash val="solid"/>
          </a:ln>
        </p:spPr>
        <p:txBody>
          <a:bodyPr/>
          <a:lstStyle/>
          <a:p>
            <a:endParaRPr lang="en-IN"/>
          </a:p>
        </p:txBody>
      </p:sp>
      <p:sp>
        <p:nvSpPr>
          <p:cNvPr id="25" name="Shape 23"/>
          <p:cNvSpPr/>
          <p:nvPr/>
        </p:nvSpPr>
        <p:spPr>
          <a:xfrm>
            <a:off x="676656" y="5340096"/>
            <a:ext cx="457200" cy="457200"/>
          </a:xfrm>
          <a:prstGeom prst="ellipse">
            <a:avLst/>
          </a:prstGeom>
          <a:solidFill>
            <a:srgbClr val="3B1656"/>
          </a:solidFill>
          <a:ln/>
        </p:spPr>
        <p:txBody>
          <a:bodyPr/>
          <a:lstStyle/>
          <a:p>
            <a:endParaRPr lang="en-IN"/>
          </a:p>
        </p:txBody>
      </p:sp>
      <p:sp>
        <p:nvSpPr>
          <p:cNvPr id="26" name="Text 24"/>
          <p:cNvSpPr/>
          <p:nvPr/>
        </p:nvSpPr>
        <p:spPr>
          <a:xfrm>
            <a:off x="676656" y="5340096"/>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Q5</a:t>
            </a:r>
            <a:endParaRPr lang="en-US" sz="1100" dirty="0"/>
          </a:p>
        </p:txBody>
      </p:sp>
      <p:sp>
        <p:nvSpPr>
          <p:cNvPr id="27" name="Text 25"/>
          <p:cNvSpPr/>
          <p:nvPr/>
        </p:nvSpPr>
        <p:spPr>
          <a:xfrm>
            <a:off x="1261872" y="5248656"/>
            <a:ext cx="4572000" cy="292608"/>
          </a:xfrm>
          <a:prstGeom prst="rect">
            <a:avLst/>
          </a:prstGeom>
          <a:noFill/>
          <a:ln/>
        </p:spPr>
        <p:txBody>
          <a:bodyPr wrap="square" rtlCol="0" anchor="ctr"/>
          <a:lstStyle/>
          <a:p>
            <a:pPr marL="0" indent="0">
              <a:buNone/>
            </a:pPr>
            <a:r>
              <a:rPr lang="en-US" sz="1250" b="1" dirty="0">
                <a:solidFill>
                  <a:srgbClr val="3B1656"/>
                </a:solidFill>
                <a:latin typeface="Cambria" pitchFamily="34" charset="0"/>
                <a:ea typeface="Cambria" pitchFamily="34" charset="-122"/>
                <a:cs typeface="Cambria" pitchFamily="34" charset="-120"/>
              </a:rPr>
              <a:t>Highest / lowest rated products?</a:t>
            </a:r>
            <a:endParaRPr lang="en-US" sz="1250" dirty="0"/>
          </a:p>
        </p:txBody>
      </p:sp>
      <p:sp>
        <p:nvSpPr>
          <p:cNvPr id="28" name="Text 26"/>
          <p:cNvSpPr/>
          <p:nvPr/>
        </p:nvSpPr>
        <p:spPr>
          <a:xfrm>
            <a:off x="1261872" y="5541264"/>
            <a:ext cx="4572000" cy="411480"/>
          </a:xfrm>
          <a:prstGeom prst="rect">
            <a:avLst/>
          </a:prstGeom>
          <a:noFill/>
          <a:ln/>
        </p:spPr>
        <p:txBody>
          <a:bodyPr wrap="square" rtlCol="0" anchor="ctr"/>
          <a:lstStyle/>
          <a:p>
            <a:pPr marL="0" indent="0">
              <a:lnSpc>
                <a:spcPts val="1200"/>
              </a:lnSpc>
              <a:buNone/>
            </a:pPr>
            <a:r>
              <a:rPr lang="en-US" sz="1050" dirty="0">
                <a:solidFill>
                  <a:srgbClr val="2A1338"/>
                </a:solidFill>
                <a:latin typeface="Calibri" pitchFamily="34" charset="0"/>
                <a:ea typeface="Calibri" pitchFamily="34" charset="-122"/>
                <a:cs typeface="Calibri" pitchFamily="34" charset="-120"/>
              </a:rPr>
              <a:t>Avg rating ~4.0; scatter chart isolates the weak ones.</a:t>
            </a:r>
            <a:endParaRPr lang="en-US" sz="1050" dirty="0"/>
          </a:p>
        </p:txBody>
      </p:sp>
      <p:sp>
        <p:nvSpPr>
          <p:cNvPr id="29" name="Shape 27"/>
          <p:cNvSpPr/>
          <p:nvPr/>
        </p:nvSpPr>
        <p:spPr>
          <a:xfrm>
            <a:off x="6263640" y="1481328"/>
            <a:ext cx="5440680" cy="804672"/>
          </a:xfrm>
          <a:prstGeom prst="roundRect">
            <a:avLst>
              <a:gd name="adj" fmla="val 6818"/>
            </a:avLst>
          </a:prstGeom>
          <a:solidFill>
            <a:srgbClr val="E9DEF2"/>
          </a:solidFill>
          <a:ln w="9525">
            <a:solidFill>
              <a:srgbClr val="E3D5EE"/>
            </a:solidFill>
            <a:prstDash val="solid"/>
          </a:ln>
        </p:spPr>
        <p:txBody>
          <a:bodyPr/>
          <a:lstStyle/>
          <a:p>
            <a:endParaRPr lang="en-IN"/>
          </a:p>
        </p:txBody>
      </p:sp>
      <p:sp>
        <p:nvSpPr>
          <p:cNvPr id="30" name="Shape 28"/>
          <p:cNvSpPr/>
          <p:nvPr/>
        </p:nvSpPr>
        <p:spPr>
          <a:xfrm>
            <a:off x="6391656" y="1609344"/>
            <a:ext cx="457200" cy="457200"/>
          </a:xfrm>
          <a:prstGeom prst="ellipse">
            <a:avLst/>
          </a:prstGeom>
          <a:solidFill>
            <a:srgbClr val="3B1656"/>
          </a:solidFill>
          <a:ln/>
        </p:spPr>
        <p:txBody>
          <a:bodyPr/>
          <a:lstStyle/>
          <a:p>
            <a:endParaRPr lang="en-IN"/>
          </a:p>
        </p:txBody>
      </p:sp>
      <p:sp>
        <p:nvSpPr>
          <p:cNvPr id="31" name="Text 29"/>
          <p:cNvSpPr/>
          <p:nvPr/>
        </p:nvSpPr>
        <p:spPr>
          <a:xfrm>
            <a:off x="6391656" y="1609344"/>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Q6</a:t>
            </a:r>
            <a:endParaRPr lang="en-US" sz="1100" dirty="0"/>
          </a:p>
        </p:txBody>
      </p:sp>
      <p:sp>
        <p:nvSpPr>
          <p:cNvPr id="32" name="Text 30"/>
          <p:cNvSpPr/>
          <p:nvPr/>
        </p:nvSpPr>
        <p:spPr>
          <a:xfrm>
            <a:off x="6976872" y="1517904"/>
            <a:ext cx="4572000" cy="292608"/>
          </a:xfrm>
          <a:prstGeom prst="rect">
            <a:avLst/>
          </a:prstGeom>
          <a:noFill/>
          <a:ln/>
        </p:spPr>
        <p:txBody>
          <a:bodyPr wrap="square" rtlCol="0" anchor="ctr"/>
          <a:lstStyle/>
          <a:p>
            <a:pPr marL="0" indent="0">
              <a:buNone/>
            </a:pPr>
            <a:r>
              <a:rPr lang="en-US" sz="1250" b="1" dirty="0">
                <a:solidFill>
                  <a:srgbClr val="3B1656"/>
                </a:solidFill>
                <a:latin typeface="Cambria" pitchFamily="34" charset="0"/>
                <a:ea typeface="Cambria" pitchFamily="34" charset="-122"/>
                <a:cs typeface="Cambria" pitchFamily="34" charset="-120"/>
              </a:rPr>
              <a:t>Regional purchasing patterns?</a:t>
            </a:r>
            <a:endParaRPr lang="en-US" sz="1250" dirty="0"/>
          </a:p>
        </p:txBody>
      </p:sp>
      <p:sp>
        <p:nvSpPr>
          <p:cNvPr id="33" name="Text 31"/>
          <p:cNvSpPr/>
          <p:nvPr/>
        </p:nvSpPr>
        <p:spPr>
          <a:xfrm>
            <a:off x="6976872" y="1810512"/>
            <a:ext cx="4572000" cy="411480"/>
          </a:xfrm>
          <a:prstGeom prst="rect">
            <a:avLst/>
          </a:prstGeom>
          <a:noFill/>
          <a:ln/>
        </p:spPr>
        <p:txBody>
          <a:bodyPr wrap="square" rtlCol="0" anchor="ctr"/>
          <a:lstStyle/>
          <a:p>
            <a:pPr marL="0" indent="0">
              <a:lnSpc>
                <a:spcPts val="1200"/>
              </a:lnSpc>
              <a:buNone/>
            </a:pPr>
            <a:r>
              <a:rPr lang="en-US" sz="1050" dirty="0">
                <a:solidFill>
                  <a:srgbClr val="2A1338"/>
                </a:solidFill>
                <a:latin typeface="Calibri" pitchFamily="34" charset="0"/>
                <a:ea typeface="Calibri" pitchFamily="34" charset="-122"/>
                <a:cs typeface="Calibri" pitchFamily="34" charset="-120"/>
              </a:rPr>
              <a:t>Demand is concentrated in Southeast Brazil (São Paulo).</a:t>
            </a:r>
            <a:endParaRPr lang="en-US" sz="1050" dirty="0"/>
          </a:p>
        </p:txBody>
      </p:sp>
      <p:sp>
        <p:nvSpPr>
          <p:cNvPr id="34" name="Shape 32"/>
          <p:cNvSpPr/>
          <p:nvPr/>
        </p:nvSpPr>
        <p:spPr>
          <a:xfrm>
            <a:off x="6263640" y="2414016"/>
            <a:ext cx="5440680" cy="804672"/>
          </a:xfrm>
          <a:prstGeom prst="roundRect">
            <a:avLst>
              <a:gd name="adj" fmla="val 6818"/>
            </a:avLst>
          </a:prstGeom>
          <a:solidFill>
            <a:srgbClr val="FBF9FD"/>
          </a:solidFill>
          <a:ln w="9525">
            <a:solidFill>
              <a:srgbClr val="E3D5EE"/>
            </a:solidFill>
            <a:prstDash val="solid"/>
          </a:ln>
        </p:spPr>
        <p:txBody>
          <a:bodyPr/>
          <a:lstStyle/>
          <a:p>
            <a:endParaRPr lang="en-IN"/>
          </a:p>
        </p:txBody>
      </p:sp>
      <p:sp>
        <p:nvSpPr>
          <p:cNvPr id="35" name="Shape 33"/>
          <p:cNvSpPr/>
          <p:nvPr/>
        </p:nvSpPr>
        <p:spPr>
          <a:xfrm>
            <a:off x="6391656" y="2542032"/>
            <a:ext cx="457200" cy="457200"/>
          </a:xfrm>
          <a:prstGeom prst="ellipse">
            <a:avLst/>
          </a:prstGeom>
          <a:solidFill>
            <a:srgbClr val="3B1656"/>
          </a:solidFill>
          <a:ln/>
        </p:spPr>
        <p:txBody>
          <a:bodyPr/>
          <a:lstStyle/>
          <a:p>
            <a:endParaRPr lang="en-IN"/>
          </a:p>
        </p:txBody>
      </p:sp>
      <p:sp>
        <p:nvSpPr>
          <p:cNvPr id="36" name="Text 34"/>
          <p:cNvSpPr/>
          <p:nvPr/>
        </p:nvSpPr>
        <p:spPr>
          <a:xfrm>
            <a:off x="6391656" y="2542032"/>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Q7</a:t>
            </a:r>
            <a:endParaRPr lang="en-US" sz="1100" dirty="0"/>
          </a:p>
        </p:txBody>
      </p:sp>
      <p:sp>
        <p:nvSpPr>
          <p:cNvPr id="37" name="Text 35"/>
          <p:cNvSpPr/>
          <p:nvPr/>
        </p:nvSpPr>
        <p:spPr>
          <a:xfrm>
            <a:off x="6976872" y="2450592"/>
            <a:ext cx="4572000" cy="292608"/>
          </a:xfrm>
          <a:prstGeom prst="rect">
            <a:avLst/>
          </a:prstGeom>
          <a:noFill/>
          <a:ln/>
        </p:spPr>
        <p:txBody>
          <a:bodyPr wrap="square" rtlCol="0" anchor="ctr"/>
          <a:lstStyle/>
          <a:p>
            <a:pPr marL="0" indent="0">
              <a:buNone/>
            </a:pPr>
            <a:r>
              <a:rPr lang="en-US" sz="1250" b="1" dirty="0">
                <a:solidFill>
                  <a:srgbClr val="3B1656"/>
                </a:solidFill>
                <a:latin typeface="Cambria" pitchFamily="34" charset="0"/>
                <a:ea typeface="Cambria" pitchFamily="34" charset="-122"/>
                <a:cs typeface="Cambria" pitchFamily="34" charset="-120"/>
              </a:rPr>
              <a:t>Frequently purchased products?</a:t>
            </a:r>
            <a:endParaRPr lang="en-US" sz="1250" dirty="0"/>
          </a:p>
        </p:txBody>
      </p:sp>
      <p:sp>
        <p:nvSpPr>
          <p:cNvPr id="38" name="Text 36"/>
          <p:cNvSpPr/>
          <p:nvPr/>
        </p:nvSpPr>
        <p:spPr>
          <a:xfrm>
            <a:off x="6976872" y="2743200"/>
            <a:ext cx="4572000" cy="411480"/>
          </a:xfrm>
          <a:prstGeom prst="rect">
            <a:avLst/>
          </a:prstGeom>
          <a:noFill/>
          <a:ln/>
        </p:spPr>
        <p:txBody>
          <a:bodyPr wrap="square" rtlCol="0" anchor="ctr"/>
          <a:lstStyle/>
          <a:p>
            <a:pPr marL="0" indent="0">
              <a:lnSpc>
                <a:spcPts val="1200"/>
              </a:lnSpc>
              <a:buNone/>
            </a:pPr>
            <a:r>
              <a:rPr lang="en-US" sz="1050" dirty="0">
                <a:solidFill>
                  <a:srgbClr val="2A1338"/>
                </a:solidFill>
                <a:latin typeface="Calibri" pitchFamily="34" charset="0"/>
                <a:ea typeface="Calibri" pitchFamily="34" charset="-122"/>
                <a:cs typeface="Calibri" pitchFamily="34" charset="-120"/>
              </a:rPr>
              <a:t>Same top categories also lead by order count.</a:t>
            </a:r>
            <a:endParaRPr lang="en-US" sz="1050" dirty="0"/>
          </a:p>
        </p:txBody>
      </p:sp>
      <p:sp>
        <p:nvSpPr>
          <p:cNvPr id="39" name="Shape 37"/>
          <p:cNvSpPr/>
          <p:nvPr/>
        </p:nvSpPr>
        <p:spPr>
          <a:xfrm>
            <a:off x="6263640" y="3346704"/>
            <a:ext cx="5440680" cy="804672"/>
          </a:xfrm>
          <a:prstGeom prst="roundRect">
            <a:avLst>
              <a:gd name="adj" fmla="val 6818"/>
            </a:avLst>
          </a:prstGeom>
          <a:solidFill>
            <a:srgbClr val="E9DEF2"/>
          </a:solidFill>
          <a:ln w="9525">
            <a:solidFill>
              <a:srgbClr val="E3D5EE"/>
            </a:solidFill>
            <a:prstDash val="solid"/>
          </a:ln>
        </p:spPr>
        <p:txBody>
          <a:bodyPr/>
          <a:lstStyle/>
          <a:p>
            <a:endParaRPr lang="en-IN"/>
          </a:p>
        </p:txBody>
      </p:sp>
      <p:sp>
        <p:nvSpPr>
          <p:cNvPr id="40" name="Shape 38"/>
          <p:cNvSpPr/>
          <p:nvPr/>
        </p:nvSpPr>
        <p:spPr>
          <a:xfrm>
            <a:off x="6391656" y="3474720"/>
            <a:ext cx="457200" cy="457200"/>
          </a:xfrm>
          <a:prstGeom prst="ellipse">
            <a:avLst/>
          </a:prstGeom>
          <a:solidFill>
            <a:srgbClr val="3B1656"/>
          </a:solidFill>
          <a:ln/>
        </p:spPr>
        <p:txBody>
          <a:bodyPr/>
          <a:lstStyle/>
          <a:p>
            <a:endParaRPr lang="en-IN"/>
          </a:p>
        </p:txBody>
      </p:sp>
      <p:sp>
        <p:nvSpPr>
          <p:cNvPr id="41" name="Text 39"/>
          <p:cNvSpPr/>
          <p:nvPr/>
        </p:nvSpPr>
        <p:spPr>
          <a:xfrm>
            <a:off x="6391656" y="3474720"/>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Q8</a:t>
            </a:r>
            <a:endParaRPr lang="en-US" sz="1100" dirty="0"/>
          </a:p>
        </p:txBody>
      </p:sp>
      <p:sp>
        <p:nvSpPr>
          <p:cNvPr id="42" name="Text 40"/>
          <p:cNvSpPr/>
          <p:nvPr/>
        </p:nvSpPr>
        <p:spPr>
          <a:xfrm>
            <a:off x="6976872" y="3383280"/>
            <a:ext cx="4572000" cy="292608"/>
          </a:xfrm>
          <a:prstGeom prst="rect">
            <a:avLst/>
          </a:prstGeom>
          <a:noFill/>
          <a:ln/>
        </p:spPr>
        <p:txBody>
          <a:bodyPr wrap="square" rtlCol="0" anchor="ctr"/>
          <a:lstStyle/>
          <a:p>
            <a:pPr marL="0" indent="0">
              <a:buNone/>
            </a:pPr>
            <a:r>
              <a:rPr lang="en-US" sz="1250" b="1" dirty="0">
                <a:solidFill>
                  <a:srgbClr val="3B1656"/>
                </a:solidFill>
                <a:latin typeface="Cambria" pitchFamily="34" charset="0"/>
                <a:ea typeface="Cambria" pitchFamily="34" charset="-122"/>
                <a:cs typeface="Cambria" pitchFamily="34" charset="-120"/>
              </a:rPr>
              <a:t>Categories needing attention?</a:t>
            </a:r>
            <a:endParaRPr lang="en-US" sz="1250" dirty="0"/>
          </a:p>
        </p:txBody>
      </p:sp>
      <p:sp>
        <p:nvSpPr>
          <p:cNvPr id="43" name="Text 41"/>
          <p:cNvSpPr/>
          <p:nvPr/>
        </p:nvSpPr>
        <p:spPr>
          <a:xfrm>
            <a:off x="6976872" y="3675888"/>
            <a:ext cx="4572000" cy="411480"/>
          </a:xfrm>
          <a:prstGeom prst="rect">
            <a:avLst/>
          </a:prstGeom>
          <a:noFill/>
          <a:ln/>
        </p:spPr>
        <p:txBody>
          <a:bodyPr wrap="square" rtlCol="0" anchor="ctr"/>
          <a:lstStyle/>
          <a:p>
            <a:pPr marL="0" indent="0">
              <a:lnSpc>
                <a:spcPts val="1200"/>
              </a:lnSpc>
              <a:buNone/>
            </a:pPr>
            <a:r>
              <a:rPr lang="en-US" sz="1050" dirty="0">
                <a:solidFill>
                  <a:srgbClr val="2A1338"/>
                </a:solidFill>
                <a:latin typeface="Calibri" pitchFamily="34" charset="0"/>
                <a:ea typeface="Calibri" pitchFamily="34" charset="-122"/>
                <a:cs typeface="Calibri" pitchFamily="34" charset="-120"/>
              </a:rPr>
              <a:t>Low-revenue + low-rating categories flagged on the scatter chart.</a:t>
            </a:r>
            <a:endParaRPr lang="en-US" sz="1050" dirty="0"/>
          </a:p>
        </p:txBody>
      </p:sp>
      <p:sp>
        <p:nvSpPr>
          <p:cNvPr id="44" name="Shape 42"/>
          <p:cNvSpPr/>
          <p:nvPr/>
        </p:nvSpPr>
        <p:spPr>
          <a:xfrm>
            <a:off x="6263640" y="4279392"/>
            <a:ext cx="5440680" cy="804672"/>
          </a:xfrm>
          <a:prstGeom prst="roundRect">
            <a:avLst>
              <a:gd name="adj" fmla="val 6818"/>
            </a:avLst>
          </a:prstGeom>
          <a:solidFill>
            <a:srgbClr val="FBF9FD"/>
          </a:solidFill>
          <a:ln w="9525">
            <a:solidFill>
              <a:srgbClr val="E3D5EE"/>
            </a:solidFill>
            <a:prstDash val="solid"/>
          </a:ln>
        </p:spPr>
        <p:txBody>
          <a:bodyPr/>
          <a:lstStyle/>
          <a:p>
            <a:endParaRPr lang="en-IN"/>
          </a:p>
        </p:txBody>
      </p:sp>
      <p:sp>
        <p:nvSpPr>
          <p:cNvPr id="45" name="Shape 43"/>
          <p:cNvSpPr/>
          <p:nvPr/>
        </p:nvSpPr>
        <p:spPr>
          <a:xfrm>
            <a:off x="6391656" y="4407408"/>
            <a:ext cx="457200" cy="457200"/>
          </a:xfrm>
          <a:prstGeom prst="ellipse">
            <a:avLst/>
          </a:prstGeom>
          <a:solidFill>
            <a:srgbClr val="3B1656"/>
          </a:solidFill>
          <a:ln/>
        </p:spPr>
        <p:txBody>
          <a:bodyPr/>
          <a:lstStyle/>
          <a:p>
            <a:endParaRPr lang="en-IN"/>
          </a:p>
        </p:txBody>
      </p:sp>
      <p:sp>
        <p:nvSpPr>
          <p:cNvPr id="46" name="Text 44"/>
          <p:cNvSpPr/>
          <p:nvPr/>
        </p:nvSpPr>
        <p:spPr>
          <a:xfrm>
            <a:off x="6391656" y="4407408"/>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Q9</a:t>
            </a:r>
            <a:endParaRPr lang="en-US" sz="1100" dirty="0"/>
          </a:p>
        </p:txBody>
      </p:sp>
      <p:sp>
        <p:nvSpPr>
          <p:cNvPr id="47" name="Text 45"/>
          <p:cNvSpPr/>
          <p:nvPr/>
        </p:nvSpPr>
        <p:spPr>
          <a:xfrm>
            <a:off x="6976872" y="4315968"/>
            <a:ext cx="4572000" cy="292608"/>
          </a:xfrm>
          <a:prstGeom prst="rect">
            <a:avLst/>
          </a:prstGeom>
          <a:noFill/>
          <a:ln/>
        </p:spPr>
        <p:txBody>
          <a:bodyPr wrap="square" rtlCol="0" anchor="ctr"/>
          <a:lstStyle/>
          <a:p>
            <a:pPr marL="0" indent="0">
              <a:buNone/>
            </a:pPr>
            <a:r>
              <a:rPr lang="en-US" sz="1250" b="1" dirty="0">
                <a:solidFill>
                  <a:srgbClr val="3B1656"/>
                </a:solidFill>
                <a:latin typeface="Cambria" pitchFamily="34" charset="0"/>
                <a:ea typeface="Cambria" pitchFamily="34" charset="-122"/>
                <a:cs typeface="Cambria" pitchFamily="34" charset="-120"/>
              </a:rPr>
              <a:t>What drives satisfaction?</a:t>
            </a:r>
            <a:endParaRPr lang="en-US" sz="1250" dirty="0"/>
          </a:p>
        </p:txBody>
      </p:sp>
      <p:sp>
        <p:nvSpPr>
          <p:cNvPr id="48" name="Text 46"/>
          <p:cNvSpPr/>
          <p:nvPr/>
        </p:nvSpPr>
        <p:spPr>
          <a:xfrm>
            <a:off x="6976872" y="4608576"/>
            <a:ext cx="4572000" cy="411480"/>
          </a:xfrm>
          <a:prstGeom prst="rect">
            <a:avLst/>
          </a:prstGeom>
          <a:noFill/>
          <a:ln/>
        </p:spPr>
        <p:txBody>
          <a:bodyPr wrap="square" rtlCol="0" anchor="ctr"/>
          <a:lstStyle/>
          <a:p>
            <a:pPr marL="0" indent="0">
              <a:lnSpc>
                <a:spcPts val="1200"/>
              </a:lnSpc>
              <a:buNone/>
            </a:pPr>
            <a:r>
              <a:rPr lang="en-US" sz="1050" dirty="0">
                <a:solidFill>
                  <a:srgbClr val="2A1338"/>
                </a:solidFill>
                <a:latin typeface="Calibri" pitchFamily="34" charset="0"/>
                <a:ea typeface="Calibri" pitchFamily="34" charset="-122"/>
                <a:cs typeface="Calibri" pitchFamily="34" charset="-120"/>
              </a:rPr>
              <a:t>Early delivery (~13 days ahead) links to higher review scores.</a:t>
            </a:r>
            <a:endParaRPr lang="en-US" sz="1050" dirty="0"/>
          </a:p>
        </p:txBody>
      </p:sp>
      <p:sp>
        <p:nvSpPr>
          <p:cNvPr id="49" name="Shape 47"/>
          <p:cNvSpPr/>
          <p:nvPr/>
        </p:nvSpPr>
        <p:spPr>
          <a:xfrm>
            <a:off x="6263640" y="5212080"/>
            <a:ext cx="5440680" cy="804672"/>
          </a:xfrm>
          <a:prstGeom prst="roundRect">
            <a:avLst>
              <a:gd name="adj" fmla="val 6818"/>
            </a:avLst>
          </a:prstGeom>
          <a:solidFill>
            <a:srgbClr val="E9DEF2"/>
          </a:solidFill>
          <a:ln w="9525">
            <a:solidFill>
              <a:srgbClr val="E3D5EE"/>
            </a:solidFill>
            <a:prstDash val="solid"/>
          </a:ln>
        </p:spPr>
        <p:txBody>
          <a:bodyPr/>
          <a:lstStyle/>
          <a:p>
            <a:endParaRPr lang="en-IN"/>
          </a:p>
        </p:txBody>
      </p:sp>
      <p:sp>
        <p:nvSpPr>
          <p:cNvPr id="50" name="Shape 48"/>
          <p:cNvSpPr/>
          <p:nvPr/>
        </p:nvSpPr>
        <p:spPr>
          <a:xfrm>
            <a:off x="6391656" y="5340096"/>
            <a:ext cx="457200" cy="457200"/>
          </a:xfrm>
          <a:prstGeom prst="ellipse">
            <a:avLst/>
          </a:prstGeom>
          <a:solidFill>
            <a:srgbClr val="3B1656"/>
          </a:solidFill>
          <a:ln/>
        </p:spPr>
        <p:txBody>
          <a:bodyPr/>
          <a:lstStyle/>
          <a:p>
            <a:endParaRPr lang="en-IN"/>
          </a:p>
        </p:txBody>
      </p:sp>
      <p:sp>
        <p:nvSpPr>
          <p:cNvPr id="51" name="Text 49"/>
          <p:cNvSpPr/>
          <p:nvPr/>
        </p:nvSpPr>
        <p:spPr>
          <a:xfrm>
            <a:off x="6391656" y="5340096"/>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Q10</a:t>
            </a:r>
            <a:endParaRPr lang="en-US" sz="1100" dirty="0"/>
          </a:p>
        </p:txBody>
      </p:sp>
      <p:sp>
        <p:nvSpPr>
          <p:cNvPr id="52" name="Text 50"/>
          <p:cNvSpPr/>
          <p:nvPr/>
        </p:nvSpPr>
        <p:spPr>
          <a:xfrm>
            <a:off x="6976872" y="5248656"/>
            <a:ext cx="4572000" cy="292608"/>
          </a:xfrm>
          <a:prstGeom prst="rect">
            <a:avLst/>
          </a:prstGeom>
          <a:noFill/>
          <a:ln/>
        </p:spPr>
        <p:txBody>
          <a:bodyPr wrap="square" rtlCol="0" anchor="ctr"/>
          <a:lstStyle/>
          <a:p>
            <a:pPr marL="0" indent="0">
              <a:buNone/>
            </a:pPr>
            <a:r>
              <a:rPr lang="en-US" sz="1250" b="1" dirty="0">
                <a:solidFill>
                  <a:srgbClr val="3B1656"/>
                </a:solidFill>
                <a:latin typeface="Cambria" pitchFamily="34" charset="0"/>
                <a:ea typeface="Cambria" pitchFamily="34" charset="-122"/>
                <a:cs typeface="Cambria" pitchFamily="34" charset="-120"/>
              </a:rPr>
              <a:t>Recommendations?</a:t>
            </a:r>
            <a:endParaRPr lang="en-US" sz="1250" dirty="0"/>
          </a:p>
        </p:txBody>
      </p:sp>
      <p:sp>
        <p:nvSpPr>
          <p:cNvPr id="53" name="Text 51"/>
          <p:cNvSpPr/>
          <p:nvPr/>
        </p:nvSpPr>
        <p:spPr>
          <a:xfrm>
            <a:off x="6976872" y="5541264"/>
            <a:ext cx="4572000" cy="411480"/>
          </a:xfrm>
          <a:prstGeom prst="rect">
            <a:avLst/>
          </a:prstGeom>
          <a:noFill/>
          <a:ln/>
        </p:spPr>
        <p:txBody>
          <a:bodyPr wrap="square" rtlCol="0" anchor="ctr"/>
          <a:lstStyle/>
          <a:p>
            <a:pPr marL="0" indent="0">
              <a:lnSpc>
                <a:spcPts val="1200"/>
              </a:lnSpc>
              <a:buNone/>
            </a:pPr>
            <a:r>
              <a:rPr lang="en-US" sz="1050" dirty="0">
                <a:solidFill>
                  <a:srgbClr val="2A1338"/>
                </a:solidFill>
                <a:latin typeface="Calibri" pitchFamily="34" charset="0"/>
                <a:ea typeface="Calibri" pitchFamily="34" charset="-122"/>
                <a:cs typeface="Calibri" pitchFamily="34" charset="-120"/>
              </a:rPr>
              <a:t>5 actions — detailed on the next slide.</a:t>
            </a:r>
            <a:endParaRPr lang="en-US" sz="1050" dirty="0"/>
          </a:p>
        </p:txBody>
      </p:sp>
      <p:sp>
        <p:nvSpPr>
          <p:cNvPr id="55" name="Text 52"/>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5878"/>
                </a:solidFill>
                <a:latin typeface="Calibri" pitchFamily="34" charset="0"/>
                <a:ea typeface="Calibri" pitchFamily="34" charset="-122"/>
                <a:cs typeface="Calibri" pitchFamily="34" charset="-120"/>
              </a:rPr>
              <a:t>11</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B1656"/>
        </a:solidFill>
        <a:effectLst/>
      </p:bgPr>
    </p:bg>
    <p:spTree>
      <p:nvGrpSpPr>
        <p:cNvPr id="1" name=""/>
        <p:cNvGrpSpPr/>
        <p:nvPr/>
      </p:nvGrpSpPr>
      <p:grpSpPr>
        <a:xfrm>
          <a:off x="0" y="0"/>
          <a:ext cx="0" cy="0"/>
          <a:chOff x="0" y="0"/>
          <a:chExt cx="0" cy="0"/>
        </a:xfrm>
      </p:grpSpPr>
      <p:sp>
        <p:nvSpPr>
          <p:cNvPr id="3" name="Text 1"/>
          <p:cNvSpPr/>
          <p:nvPr/>
        </p:nvSpPr>
        <p:spPr>
          <a:xfrm>
            <a:off x="548640" y="411480"/>
            <a:ext cx="7315200" cy="274320"/>
          </a:xfrm>
          <a:prstGeom prst="rect">
            <a:avLst/>
          </a:prstGeom>
          <a:noFill/>
          <a:ln/>
        </p:spPr>
        <p:txBody>
          <a:bodyPr wrap="square" rtlCol="0" anchor="ctr"/>
          <a:lstStyle/>
          <a:p>
            <a:pPr marL="0" indent="0">
              <a:buNone/>
            </a:pPr>
            <a:r>
              <a:rPr lang="en-US" sz="1200" b="1" kern="0" spc="200" dirty="0">
                <a:solidFill>
                  <a:srgbClr val="F0A93A"/>
                </a:solidFill>
                <a:latin typeface="Calibri" pitchFamily="34" charset="0"/>
                <a:ea typeface="Calibri" pitchFamily="34" charset="-122"/>
                <a:cs typeface="Calibri" pitchFamily="34" charset="-120"/>
              </a:rPr>
              <a:t>RECOMMENDATIONS</a:t>
            </a:r>
            <a:endParaRPr lang="en-US" sz="1200" dirty="0"/>
          </a:p>
        </p:txBody>
      </p:sp>
      <p:sp>
        <p:nvSpPr>
          <p:cNvPr id="4" name="Text 2"/>
          <p:cNvSpPr/>
          <p:nvPr/>
        </p:nvSpPr>
        <p:spPr>
          <a:xfrm>
            <a:off x="548640" y="658368"/>
            <a:ext cx="10515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ShopSphere Should Do Next</a:t>
            </a:r>
            <a:endParaRPr lang="en-US" sz="2800" dirty="0"/>
          </a:p>
        </p:txBody>
      </p:sp>
      <p:sp>
        <p:nvSpPr>
          <p:cNvPr id="5" name="Shape 3"/>
          <p:cNvSpPr/>
          <p:nvPr/>
        </p:nvSpPr>
        <p:spPr>
          <a:xfrm>
            <a:off x="548640" y="1600200"/>
            <a:ext cx="457200" cy="457200"/>
          </a:xfrm>
          <a:prstGeom prst="ellipse">
            <a:avLst/>
          </a:prstGeom>
          <a:solidFill>
            <a:srgbClr val="F0A93A"/>
          </a:solidFill>
          <a:ln/>
        </p:spPr>
        <p:txBody>
          <a:bodyPr/>
          <a:lstStyle/>
          <a:p>
            <a:endParaRPr lang="en-IN"/>
          </a:p>
        </p:txBody>
      </p:sp>
      <p:sp>
        <p:nvSpPr>
          <p:cNvPr id="6" name="Text 4"/>
          <p:cNvSpPr/>
          <p:nvPr/>
        </p:nvSpPr>
        <p:spPr>
          <a:xfrm>
            <a:off x="548640" y="1600200"/>
            <a:ext cx="457200" cy="457200"/>
          </a:xfrm>
          <a:prstGeom prst="rect">
            <a:avLst/>
          </a:prstGeom>
          <a:noFill/>
          <a:ln/>
        </p:spPr>
        <p:txBody>
          <a:bodyPr wrap="square" rtlCol="0" anchor="ctr"/>
          <a:lstStyle/>
          <a:p>
            <a:pPr marL="0" indent="0" algn="ctr">
              <a:buNone/>
            </a:pPr>
            <a:r>
              <a:rPr lang="en-US" sz="1800" b="1" dirty="0">
                <a:solidFill>
                  <a:srgbClr val="3B1656"/>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234440" y="1581912"/>
            <a:ext cx="987552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Double down on top categories</a:t>
            </a:r>
            <a:endParaRPr lang="en-US" sz="1500" dirty="0"/>
          </a:p>
        </p:txBody>
      </p:sp>
      <p:sp>
        <p:nvSpPr>
          <p:cNvPr id="8" name="Text 6"/>
          <p:cNvSpPr/>
          <p:nvPr/>
        </p:nvSpPr>
        <p:spPr>
          <a:xfrm>
            <a:off x="1234440" y="1892808"/>
            <a:ext cx="9875520" cy="365760"/>
          </a:xfrm>
          <a:prstGeom prst="rect">
            <a:avLst/>
          </a:prstGeom>
          <a:noFill/>
          <a:ln/>
        </p:spPr>
        <p:txBody>
          <a:bodyPr wrap="square" rtlCol="0" anchor="ctr"/>
          <a:lstStyle/>
          <a:p>
            <a:pPr marL="0" indent="0">
              <a:lnSpc>
                <a:spcPts val="1400"/>
              </a:lnSpc>
              <a:buNone/>
            </a:pPr>
            <a:r>
              <a:rPr lang="en-US" sz="1150" dirty="0">
                <a:solidFill>
                  <a:srgbClr val="D9C7E8"/>
                </a:solidFill>
                <a:latin typeface="Calibri" pitchFamily="34" charset="0"/>
                <a:ea typeface="Calibri" pitchFamily="34" charset="-122"/>
                <a:cs typeface="Calibri" pitchFamily="34" charset="-120"/>
              </a:rPr>
              <a:t>Increase inventory depth and promotion for Health &amp; Beauty, Watches &amp; Gifts and Bed &amp; Bath — proven revenue drivers.</a:t>
            </a:r>
            <a:endParaRPr lang="en-US" sz="1150" dirty="0"/>
          </a:p>
        </p:txBody>
      </p:sp>
      <p:sp>
        <p:nvSpPr>
          <p:cNvPr id="9" name="Shape 7"/>
          <p:cNvSpPr/>
          <p:nvPr/>
        </p:nvSpPr>
        <p:spPr>
          <a:xfrm>
            <a:off x="548640" y="2514600"/>
            <a:ext cx="457200" cy="457200"/>
          </a:xfrm>
          <a:prstGeom prst="ellipse">
            <a:avLst/>
          </a:prstGeom>
          <a:solidFill>
            <a:srgbClr val="F0A93A"/>
          </a:solidFill>
          <a:ln/>
        </p:spPr>
        <p:txBody>
          <a:bodyPr/>
          <a:lstStyle/>
          <a:p>
            <a:endParaRPr lang="en-IN"/>
          </a:p>
        </p:txBody>
      </p:sp>
      <p:sp>
        <p:nvSpPr>
          <p:cNvPr id="10" name="Text 8"/>
          <p:cNvSpPr/>
          <p:nvPr/>
        </p:nvSpPr>
        <p:spPr>
          <a:xfrm>
            <a:off x="548640" y="2514600"/>
            <a:ext cx="457200" cy="457200"/>
          </a:xfrm>
          <a:prstGeom prst="rect">
            <a:avLst/>
          </a:prstGeom>
          <a:noFill/>
          <a:ln/>
        </p:spPr>
        <p:txBody>
          <a:bodyPr wrap="square" rtlCol="0" anchor="ctr"/>
          <a:lstStyle/>
          <a:p>
            <a:pPr marL="0" indent="0" algn="ctr">
              <a:buNone/>
            </a:pPr>
            <a:r>
              <a:rPr lang="en-US" sz="1800" b="1" dirty="0">
                <a:solidFill>
                  <a:srgbClr val="3B1656"/>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234440" y="2496312"/>
            <a:ext cx="987552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Investigate the September dip</a:t>
            </a:r>
            <a:endParaRPr lang="en-US" sz="1500" dirty="0"/>
          </a:p>
        </p:txBody>
      </p:sp>
      <p:sp>
        <p:nvSpPr>
          <p:cNvPr id="12" name="Text 10"/>
          <p:cNvSpPr/>
          <p:nvPr/>
        </p:nvSpPr>
        <p:spPr>
          <a:xfrm>
            <a:off x="1234440" y="2807208"/>
            <a:ext cx="9875520" cy="365760"/>
          </a:xfrm>
          <a:prstGeom prst="rect">
            <a:avLst/>
          </a:prstGeom>
          <a:noFill/>
          <a:ln/>
        </p:spPr>
        <p:txBody>
          <a:bodyPr wrap="square" rtlCol="0" anchor="ctr"/>
          <a:lstStyle/>
          <a:p>
            <a:pPr marL="0" indent="0">
              <a:lnSpc>
                <a:spcPts val="1400"/>
              </a:lnSpc>
              <a:buNone/>
            </a:pPr>
            <a:r>
              <a:rPr lang="en-US" sz="1150" dirty="0">
                <a:solidFill>
                  <a:srgbClr val="D9C7E8"/>
                </a:solidFill>
                <a:latin typeface="Calibri" pitchFamily="34" charset="0"/>
                <a:ea typeface="Calibri" pitchFamily="34" charset="-122"/>
                <a:cs typeface="Calibri" pitchFamily="34" charset="-120"/>
              </a:rPr>
              <a:t>Cross-check with marketing calendar, stock levels and seller activity for that month to prevent repeat revenue loss.</a:t>
            </a:r>
            <a:endParaRPr lang="en-US" sz="1150" dirty="0"/>
          </a:p>
        </p:txBody>
      </p:sp>
      <p:sp>
        <p:nvSpPr>
          <p:cNvPr id="13" name="Shape 11"/>
          <p:cNvSpPr/>
          <p:nvPr/>
        </p:nvSpPr>
        <p:spPr>
          <a:xfrm>
            <a:off x="548640" y="3429000"/>
            <a:ext cx="457200" cy="457200"/>
          </a:xfrm>
          <a:prstGeom prst="ellipse">
            <a:avLst/>
          </a:prstGeom>
          <a:solidFill>
            <a:srgbClr val="F0A93A"/>
          </a:solidFill>
          <a:ln/>
        </p:spPr>
        <p:txBody>
          <a:bodyPr/>
          <a:lstStyle/>
          <a:p>
            <a:endParaRPr lang="en-IN"/>
          </a:p>
        </p:txBody>
      </p:sp>
      <p:sp>
        <p:nvSpPr>
          <p:cNvPr id="14" name="Text 12"/>
          <p:cNvSpPr/>
          <p:nvPr/>
        </p:nvSpPr>
        <p:spPr>
          <a:xfrm>
            <a:off x="548640" y="3429000"/>
            <a:ext cx="457200" cy="457200"/>
          </a:xfrm>
          <a:prstGeom prst="rect">
            <a:avLst/>
          </a:prstGeom>
          <a:noFill/>
          <a:ln/>
        </p:spPr>
        <p:txBody>
          <a:bodyPr wrap="square" rtlCol="0" anchor="ctr"/>
          <a:lstStyle/>
          <a:p>
            <a:pPr marL="0" indent="0" algn="ctr">
              <a:buNone/>
            </a:pPr>
            <a:r>
              <a:rPr lang="en-US" sz="1800" b="1" dirty="0">
                <a:solidFill>
                  <a:srgbClr val="3B1656"/>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234440" y="3410712"/>
            <a:ext cx="987552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Protect the delivery advantage</a:t>
            </a:r>
            <a:endParaRPr lang="en-US" sz="1500" dirty="0"/>
          </a:p>
        </p:txBody>
      </p:sp>
      <p:sp>
        <p:nvSpPr>
          <p:cNvPr id="16" name="Text 14"/>
          <p:cNvSpPr/>
          <p:nvPr/>
        </p:nvSpPr>
        <p:spPr>
          <a:xfrm>
            <a:off x="1234440" y="3721608"/>
            <a:ext cx="9875520" cy="365760"/>
          </a:xfrm>
          <a:prstGeom prst="rect">
            <a:avLst/>
          </a:prstGeom>
          <a:noFill/>
          <a:ln/>
        </p:spPr>
        <p:txBody>
          <a:bodyPr wrap="square" rtlCol="0" anchor="ctr"/>
          <a:lstStyle/>
          <a:p>
            <a:pPr marL="0" indent="0">
              <a:lnSpc>
                <a:spcPts val="1400"/>
              </a:lnSpc>
              <a:buNone/>
            </a:pPr>
            <a:r>
              <a:rPr lang="en-US" sz="1150" dirty="0">
                <a:solidFill>
                  <a:srgbClr val="D9C7E8"/>
                </a:solidFill>
                <a:latin typeface="Calibri" pitchFamily="34" charset="0"/>
                <a:ea typeface="Calibri" pitchFamily="34" charset="-122"/>
                <a:cs typeface="Calibri" pitchFamily="34" charset="-120"/>
              </a:rPr>
              <a:t>Early delivery correlates with satisfaction — keep logistics SLAs tight rather than loosening estimated delivery windows.</a:t>
            </a:r>
            <a:endParaRPr lang="en-US" sz="1150" dirty="0"/>
          </a:p>
        </p:txBody>
      </p:sp>
      <p:sp>
        <p:nvSpPr>
          <p:cNvPr id="17" name="Shape 15"/>
          <p:cNvSpPr/>
          <p:nvPr/>
        </p:nvSpPr>
        <p:spPr>
          <a:xfrm>
            <a:off x="548640" y="4343400"/>
            <a:ext cx="457200" cy="457200"/>
          </a:xfrm>
          <a:prstGeom prst="ellipse">
            <a:avLst/>
          </a:prstGeom>
          <a:solidFill>
            <a:srgbClr val="F0A93A"/>
          </a:solidFill>
          <a:ln/>
        </p:spPr>
        <p:txBody>
          <a:bodyPr/>
          <a:lstStyle/>
          <a:p>
            <a:endParaRPr lang="en-IN"/>
          </a:p>
        </p:txBody>
      </p:sp>
      <p:sp>
        <p:nvSpPr>
          <p:cNvPr id="18" name="Text 16"/>
          <p:cNvSpPr/>
          <p:nvPr/>
        </p:nvSpPr>
        <p:spPr>
          <a:xfrm>
            <a:off x="548640" y="4343400"/>
            <a:ext cx="457200" cy="457200"/>
          </a:xfrm>
          <a:prstGeom prst="rect">
            <a:avLst/>
          </a:prstGeom>
          <a:noFill/>
          <a:ln/>
        </p:spPr>
        <p:txBody>
          <a:bodyPr wrap="square" rtlCol="0" anchor="ctr"/>
          <a:lstStyle/>
          <a:p>
            <a:pPr marL="0" indent="0" algn="ctr">
              <a:buNone/>
            </a:pPr>
            <a:r>
              <a:rPr lang="en-US" sz="1800" b="1" dirty="0">
                <a:solidFill>
                  <a:srgbClr val="3B1656"/>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1234440" y="4325112"/>
            <a:ext cx="987552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Audit underperforming categories</a:t>
            </a:r>
            <a:endParaRPr lang="en-US" sz="1500" dirty="0"/>
          </a:p>
        </p:txBody>
      </p:sp>
      <p:sp>
        <p:nvSpPr>
          <p:cNvPr id="20" name="Text 18"/>
          <p:cNvSpPr/>
          <p:nvPr/>
        </p:nvSpPr>
        <p:spPr>
          <a:xfrm>
            <a:off x="1234440" y="4636008"/>
            <a:ext cx="9875520" cy="365760"/>
          </a:xfrm>
          <a:prstGeom prst="rect">
            <a:avLst/>
          </a:prstGeom>
          <a:noFill/>
          <a:ln/>
        </p:spPr>
        <p:txBody>
          <a:bodyPr wrap="square" rtlCol="0" anchor="ctr"/>
          <a:lstStyle/>
          <a:p>
            <a:pPr marL="0" indent="0">
              <a:lnSpc>
                <a:spcPts val="1400"/>
              </a:lnSpc>
              <a:buNone/>
            </a:pPr>
            <a:r>
              <a:rPr lang="en-US" sz="1150" dirty="0">
                <a:solidFill>
                  <a:srgbClr val="D9C7E8"/>
                </a:solidFill>
                <a:latin typeface="Calibri" pitchFamily="34" charset="0"/>
                <a:ea typeface="Calibri" pitchFamily="34" charset="-122"/>
                <a:cs typeface="Calibri" pitchFamily="34" charset="-120"/>
              </a:rPr>
              <a:t>Review pricing, seller quality and catalog content for categories flagged as low-revenue + low-rating.</a:t>
            </a:r>
            <a:endParaRPr lang="en-US" sz="1150" dirty="0"/>
          </a:p>
        </p:txBody>
      </p:sp>
      <p:sp>
        <p:nvSpPr>
          <p:cNvPr id="21" name="Shape 19"/>
          <p:cNvSpPr/>
          <p:nvPr/>
        </p:nvSpPr>
        <p:spPr>
          <a:xfrm>
            <a:off x="548640" y="5257800"/>
            <a:ext cx="457200" cy="457200"/>
          </a:xfrm>
          <a:prstGeom prst="ellipse">
            <a:avLst/>
          </a:prstGeom>
          <a:solidFill>
            <a:srgbClr val="F0A93A"/>
          </a:solidFill>
          <a:ln/>
        </p:spPr>
        <p:txBody>
          <a:bodyPr/>
          <a:lstStyle/>
          <a:p>
            <a:endParaRPr lang="en-IN"/>
          </a:p>
        </p:txBody>
      </p:sp>
      <p:sp>
        <p:nvSpPr>
          <p:cNvPr id="22" name="Text 20"/>
          <p:cNvSpPr/>
          <p:nvPr/>
        </p:nvSpPr>
        <p:spPr>
          <a:xfrm>
            <a:off x="548640" y="5257800"/>
            <a:ext cx="457200" cy="457200"/>
          </a:xfrm>
          <a:prstGeom prst="rect">
            <a:avLst/>
          </a:prstGeom>
          <a:noFill/>
          <a:ln/>
        </p:spPr>
        <p:txBody>
          <a:bodyPr wrap="square" rtlCol="0" anchor="ctr"/>
          <a:lstStyle/>
          <a:p>
            <a:pPr marL="0" indent="0" algn="ctr">
              <a:buNone/>
            </a:pPr>
            <a:r>
              <a:rPr lang="en-US" sz="1800" b="1" dirty="0">
                <a:solidFill>
                  <a:srgbClr val="3B1656"/>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1234440" y="5239512"/>
            <a:ext cx="987552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Prioritize the Southeast, expand elsewhere</a:t>
            </a:r>
            <a:endParaRPr lang="en-US" sz="1500" dirty="0"/>
          </a:p>
        </p:txBody>
      </p:sp>
      <p:sp>
        <p:nvSpPr>
          <p:cNvPr id="24" name="Text 22"/>
          <p:cNvSpPr/>
          <p:nvPr/>
        </p:nvSpPr>
        <p:spPr>
          <a:xfrm>
            <a:off x="1234440" y="5550408"/>
            <a:ext cx="9875520" cy="365760"/>
          </a:xfrm>
          <a:prstGeom prst="rect">
            <a:avLst/>
          </a:prstGeom>
          <a:noFill/>
          <a:ln/>
        </p:spPr>
        <p:txBody>
          <a:bodyPr wrap="square" rtlCol="0" anchor="ctr"/>
          <a:lstStyle/>
          <a:p>
            <a:pPr marL="0" indent="0">
              <a:lnSpc>
                <a:spcPts val="1400"/>
              </a:lnSpc>
              <a:buNone/>
            </a:pPr>
            <a:r>
              <a:rPr lang="en-US" sz="1150" dirty="0">
                <a:solidFill>
                  <a:srgbClr val="D9C7E8"/>
                </a:solidFill>
                <a:latin typeface="Calibri" pitchFamily="34" charset="0"/>
                <a:ea typeface="Calibri" pitchFamily="34" charset="-122"/>
                <a:cs typeface="Calibri" pitchFamily="34" charset="-120"/>
              </a:rPr>
              <a:t>Maintain strength in top states while running targeted campaigns in under-penetrated regions.</a:t>
            </a:r>
            <a:endParaRPr lang="en-US" sz="1150" dirty="0"/>
          </a:p>
        </p:txBody>
      </p:sp>
      <p:sp>
        <p:nvSpPr>
          <p:cNvPr id="26" name="Text 23"/>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5878"/>
                </a:solidFill>
                <a:latin typeface="Calibri" pitchFamily="34" charset="0"/>
                <a:ea typeface="Calibri" pitchFamily="34" charset="-122"/>
                <a:cs typeface="Calibri" pitchFamily="34" charset="-120"/>
              </a:rPr>
              <a:t>12</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marL="0" indent="0">
              <a:buNone/>
            </a:pPr>
            <a:r>
              <a:rPr lang="en-US" sz="1200" b="1" kern="0" spc="200" dirty="0">
                <a:solidFill>
                  <a:srgbClr val="7A3E9D"/>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2A1338"/>
                </a:solidFill>
                <a:latin typeface="Cambria" pitchFamily="34" charset="0"/>
                <a:ea typeface="Cambria" pitchFamily="34" charset="-122"/>
                <a:cs typeface="Cambria" pitchFamily="34" charset="-120"/>
              </a:rPr>
              <a:t>Conclusion</a:t>
            </a:r>
            <a:endParaRPr lang="en-US" sz="3000" dirty="0"/>
          </a:p>
        </p:txBody>
      </p:sp>
      <p:sp>
        <p:nvSpPr>
          <p:cNvPr id="4" name="Text 2"/>
          <p:cNvSpPr/>
          <p:nvPr/>
        </p:nvSpPr>
        <p:spPr>
          <a:xfrm>
            <a:off x="548640" y="1417320"/>
            <a:ext cx="10881360" cy="685800"/>
          </a:xfrm>
          <a:prstGeom prst="rect">
            <a:avLst/>
          </a:prstGeom>
          <a:noFill/>
          <a:ln/>
        </p:spPr>
        <p:txBody>
          <a:bodyPr wrap="square" rtlCol="0" anchor="ctr"/>
          <a:lstStyle/>
          <a:p>
            <a:pPr marL="0" indent="0">
              <a:lnSpc>
                <a:spcPts val="2000"/>
              </a:lnSpc>
              <a:buNone/>
            </a:pPr>
            <a:r>
              <a:rPr lang="en-US" sz="1400" dirty="0">
                <a:solidFill>
                  <a:srgbClr val="2A1338"/>
                </a:solidFill>
                <a:latin typeface="Calibri" pitchFamily="34" charset="0"/>
                <a:ea typeface="Calibri" pitchFamily="34" charset="-122"/>
                <a:cs typeface="Calibri" pitchFamily="34" charset="-120"/>
              </a:rPr>
              <a:t>This project turned nine raw, disconnected data files into a single interactive Power BI dashboard that answers every business question ShopSphere Online asked — giving the team one reliable source of truth for revenue, products, and customer behavior.</a:t>
            </a:r>
            <a:endParaRPr lang="en-US" sz="1400" dirty="0"/>
          </a:p>
        </p:txBody>
      </p:sp>
      <p:sp>
        <p:nvSpPr>
          <p:cNvPr id="5" name="Shape 3"/>
          <p:cNvSpPr/>
          <p:nvPr/>
        </p:nvSpPr>
        <p:spPr>
          <a:xfrm>
            <a:off x="548640" y="2331720"/>
            <a:ext cx="2697480" cy="2331720"/>
          </a:xfrm>
          <a:prstGeom prst="roundRect">
            <a:avLst>
              <a:gd name="adj" fmla="val 3922"/>
            </a:avLst>
          </a:prstGeom>
          <a:solidFill>
            <a:srgbClr val="E9DEF2"/>
          </a:solidFill>
          <a:ln w="12700">
            <a:solidFill>
              <a:srgbClr val="7A3E9D"/>
            </a:solidFill>
            <a:prstDash val="solid"/>
          </a:ln>
        </p:spPr>
        <p:txBody>
          <a:bodyPr/>
          <a:lstStyle/>
          <a:p>
            <a:endParaRPr lang="en-IN"/>
          </a:p>
        </p:txBody>
      </p:sp>
      <p:sp>
        <p:nvSpPr>
          <p:cNvPr id="6" name="Text 4"/>
          <p:cNvSpPr/>
          <p:nvPr/>
        </p:nvSpPr>
        <p:spPr>
          <a:xfrm>
            <a:off x="749808" y="2514600"/>
            <a:ext cx="2295144" cy="640080"/>
          </a:xfrm>
          <a:prstGeom prst="rect">
            <a:avLst/>
          </a:prstGeom>
          <a:noFill/>
          <a:ln/>
        </p:spPr>
        <p:txBody>
          <a:bodyPr wrap="square" rtlCol="0" anchor="ctr"/>
          <a:lstStyle/>
          <a:p>
            <a:pPr marL="0" indent="0">
              <a:buNone/>
            </a:pPr>
            <a:r>
              <a:rPr lang="en-US" sz="3000" b="1" dirty="0">
                <a:solidFill>
                  <a:srgbClr val="3B1656"/>
                </a:solidFill>
                <a:latin typeface="Cambria" pitchFamily="34" charset="0"/>
                <a:ea typeface="Cambria" pitchFamily="34" charset="-122"/>
                <a:cs typeface="Cambria" pitchFamily="34" charset="-120"/>
              </a:rPr>
              <a:t>9 → 1</a:t>
            </a:r>
            <a:endParaRPr lang="en-US" sz="3000" dirty="0"/>
          </a:p>
        </p:txBody>
      </p:sp>
      <p:sp>
        <p:nvSpPr>
          <p:cNvPr id="7" name="Text 5"/>
          <p:cNvSpPr/>
          <p:nvPr/>
        </p:nvSpPr>
        <p:spPr>
          <a:xfrm>
            <a:off x="749808" y="3127248"/>
            <a:ext cx="2295144" cy="320040"/>
          </a:xfrm>
          <a:prstGeom prst="rect">
            <a:avLst/>
          </a:prstGeom>
          <a:noFill/>
          <a:ln/>
        </p:spPr>
        <p:txBody>
          <a:bodyPr wrap="square" rtlCol="0" anchor="ctr"/>
          <a:lstStyle/>
          <a:p>
            <a:pPr marL="0" indent="0">
              <a:buNone/>
            </a:pPr>
            <a:r>
              <a:rPr lang="en-US" sz="1250" b="1" dirty="0">
                <a:solidFill>
                  <a:srgbClr val="2A1338"/>
                </a:solidFill>
                <a:latin typeface="Calibri" pitchFamily="34" charset="0"/>
                <a:ea typeface="Calibri" pitchFamily="34" charset="-122"/>
                <a:cs typeface="Calibri" pitchFamily="34" charset="-120"/>
              </a:rPr>
              <a:t>Raw files unified</a:t>
            </a:r>
            <a:endParaRPr lang="en-US" sz="1250" dirty="0"/>
          </a:p>
        </p:txBody>
      </p:sp>
      <p:sp>
        <p:nvSpPr>
          <p:cNvPr id="8" name="Text 6"/>
          <p:cNvSpPr/>
          <p:nvPr/>
        </p:nvSpPr>
        <p:spPr>
          <a:xfrm>
            <a:off x="749808" y="3456432"/>
            <a:ext cx="2295144" cy="1097280"/>
          </a:xfrm>
          <a:prstGeom prst="rect">
            <a:avLst/>
          </a:prstGeom>
          <a:noFill/>
          <a:ln/>
        </p:spPr>
        <p:txBody>
          <a:bodyPr wrap="square" rtlCol="0" anchor="ctr"/>
          <a:lstStyle/>
          <a:p>
            <a:pPr marL="0" indent="0">
              <a:lnSpc>
                <a:spcPts val="1300"/>
              </a:lnSpc>
              <a:buNone/>
            </a:pPr>
            <a:r>
              <a:rPr lang="en-US" sz="1000" dirty="0">
                <a:solidFill>
                  <a:srgbClr val="6B5878"/>
                </a:solidFill>
                <a:latin typeface="Calibri" pitchFamily="34" charset="0"/>
                <a:ea typeface="Calibri" pitchFamily="34" charset="-122"/>
                <a:cs typeface="Calibri" pitchFamily="34" charset="-120"/>
              </a:rPr>
              <a:t>Nine messy source tables cleaned and connected into one trustworthy data model.</a:t>
            </a:r>
            <a:endParaRPr lang="en-US" sz="1000" dirty="0"/>
          </a:p>
        </p:txBody>
      </p:sp>
      <p:sp>
        <p:nvSpPr>
          <p:cNvPr id="9" name="Shape 7"/>
          <p:cNvSpPr/>
          <p:nvPr/>
        </p:nvSpPr>
        <p:spPr>
          <a:xfrm>
            <a:off x="3364992" y="2331720"/>
            <a:ext cx="2697480" cy="2331720"/>
          </a:xfrm>
          <a:prstGeom prst="roundRect">
            <a:avLst>
              <a:gd name="adj" fmla="val 3922"/>
            </a:avLst>
          </a:prstGeom>
          <a:solidFill>
            <a:srgbClr val="FBF9FD"/>
          </a:solidFill>
          <a:ln w="12700">
            <a:solidFill>
              <a:srgbClr val="7A3E9D"/>
            </a:solidFill>
            <a:prstDash val="solid"/>
          </a:ln>
        </p:spPr>
        <p:txBody>
          <a:bodyPr/>
          <a:lstStyle/>
          <a:p>
            <a:endParaRPr lang="en-IN"/>
          </a:p>
        </p:txBody>
      </p:sp>
      <p:sp>
        <p:nvSpPr>
          <p:cNvPr id="10" name="Text 8"/>
          <p:cNvSpPr/>
          <p:nvPr/>
        </p:nvSpPr>
        <p:spPr>
          <a:xfrm>
            <a:off x="3566160" y="2514600"/>
            <a:ext cx="2295144" cy="640080"/>
          </a:xfrm>
          <a:prstGeom prst="rect">
            <a:avLst/>
          </a:prstGeom>
          <a:noFill/>
          <a:ln/>
        </p:spPr>
        <p:txBody>
          <a:bodyPr wrap="square" rtlCol="0" anchor="ctr"/>
          <a:lstStyle/>
          <a:p>
            <a:pPr marL="0" indent="0">
              <a:buNone/>
            </a:pPr>
            <a:r>
              <a:rPr lang="en-US" sz="3000" b="1" dirty="0">
                <a:solidFill>
                  <a:srgbClr val="3B1656"/>
                </a:solidFill>
                <a:latin typeface="Cambria" pitchFamily="34" charset="0"/>
                <a:ea typeface="Cambria" pitchFamily="34" charset="-122"/>
                <a:cs typeface="Cambria" pitchFamily="34" charset="-120"/>
              </a:rPr>
              <a:t>3</a:t>
            </a:r>
            <a:endParaRPr lang="en-US" sz="3000" dirty="0"/>
          </a:p>
        </p:txBody>
      </p:sp>
      <p:sp>
        <p:nvSpPr>
          <p:cNvPr id="11" name="Text 9"/>
          <p:cNvSpPr/>
          <p:nvPr/>
        </p:nvSpPr>
        <p:spPr>
          <a:xfrm>
            <a:off x="3566160" y="3127248"/>
            <a:ext cx="2295144" cy="320040"/>
          </a:xfrm>
          <a:prstGeom prst="rect">
            <a:avLst/>
          </a:prstGeom>
          <a:noFill/>
          <a:ln/>
        </p:spPr>
        <p:txBody>
          <a:bodyPr wrap="square" rtlCol="0" anchor="ctr"/>
          <a:lstStyle/>
          <a:p>
            <a:pPr marL="0" indent="0">
              <a:buNone/>
            </a:pPr>
            <a:r>
              <a:rPr lang="en-US" sz="1250" b="1" dirty="0">
                <a:solidFill>
                  <a:srgbClr val="2A1338"/>
                </a:solidFill>
                <a:latin typeface="Calibri" pitchFamily="34" charset="0"/>
                <a:ea typeface="Calibri" pitchFamily="34" charset="-122"/>
                <a:cs typeface="Calibri" pitchFamily="34" charset="-120"/>
              </a:rPr>
              <a:t>Dashboard pages</a:t>
            </a:r>
            <a:endParaRPr lang="en-US" sz="1250" dirty="0"/>
          </a:p>
        </p:txBody>
      </p:sp>
      <p:sp>
        <p:nvSpPr>
          <p:cNvPr id="12" name="Text 10"/>
          <p:cNvSpPr/>
          <p:nvPr/>
        </p:nvSpPr>
        <p:spPr>
          <a:xfrm>
            <a:off x="3566160" y="3456432"/>
            <a:ext cx="2295144" cy="1097280"/>
          </a:xfrm>
          <a:prstGeom prst="rect">
            <a:avLst/>
          </a:prstGeom>
          <a:noFill/>
          <a:ln/>
        </p:spPr>
        <p:txBody>
          <a:bodyPr wrap="square" rtlCol="0" anchor="ctr"/>
          <a:lstStyle/>
          <a:p>
            <a:pPr marL="0" indent="0">
              <a:lnSpc>
                <a:spcPts val="1300"/>
              </a:lnSpc>
              <a:buNone/>
            </a:pPr>
            <a:r>
              <a:rPr lang="en-US" sz="1000" dirty="0">
                <a:solidFill>
                  <a:srgbClr val="6B5878"/>
                </a:solidFill>
                <a:latin typeface="Calibri" pitchFamily="34" charset="0"/>
                <a:ea typeface="Calibri" pitchFamily="34" charset="-122"/>
                <a:cs typeface="Calibri" pitchFamily="34" charset="-120"/>
              </a:rPr>
              <a:t>Overview, Products &amp; Categories, and Customers &amp; Regions — each built for a different decision.</a:t>
            </a:r>
            <a:endParaRPr lang="en-US" sz="1000" dirty="0"/>
          </a:p>
        </p:txBody>
      </p:sp>
      <p:sp>
        <p:nvSpPr>
          <p:cNvPr id="13" name="Shape 11"/>
          <p:cNvSpPr/>
          <p:nvPr/>
        </p:nvSpPr>
        <p:spPr>
          <a:xfrm>
            <a:off x="6181344" y="2331720"/>
            <a:ext cx="2697480" cy="2331720"/>
          </a:xfrm>
          <a:prstGeom prst="roundRect">
            <a:avLst>
              <a:gd name="adj" fmla="val 3922"/>
            </a:avLst>
          </a:prstGeom>
          <a:solidFill>
            <a:srgbClr val="E9DEF2"/>
          </a:solidFill>
          <a:ln w="12700">
            <a:solidFill>
              <a:srgbClr val="7A3E9D"/>
            </a:solidFill>
            <a:prstDash val="solid"/>
          </a:ln>
        </p:spPr>
        <p:txBody>
          <a:bodyPr/>
          <a:lstStyle/>
          <a:p>
            <a:endParaRPr lang="en-IN"/>
          </a:p>
        </p:txBody>
      </p:sp>
      <p:sp>
        <p:nvSpPr>
          <p:cNvPr id="14" name="Text 12"/>
          <p:cNvSpPr/>
          <p:nvPr/>
        </p:nvSpPr>
        <p:spPr>
          <a:xfrm>
            <a:off x="6382512" y="2514600"/>
            <a:ext cx="2295144" cy="640080"/>
          </a:xfrm>
          <a:prstGeom prst="rect">
            <a:avLst/>
          </a:prstGeom>
          <a:noFill/>
          <a:ln/>
        </p:spPr>
        <p:txBody>
          <a:bodyPr wrap="square" rtlCol="0" anchor="ctr"/>
          <a:lstStyle/>
          <a:p>
            <a:pPr marL="0" indent="0">
              <a:buNone/>
            </a:pPr>
            <a:r>
              <a:rPr lang="en-US" sz="3000" b="1" dirty="0">
                <a:solidFill>
                  <a:srgbClr val="3B1656"/>
                </a:solidFill>
                <a:latin typeface="Cambria" pitchFamily="34" charset="0"/>
                <a:ea typeface="Cambria" pitchFamily="34" charset="-122"/>
                <a:cs typeface="Cambria" pitchFamily="34" charset="-120"/>
              </a:rPr>
              <a:t>10 / 10</a:t>
            </a:r>
            <a:endParaRPr lang="en-US" sz="3000" dirty="0"/>
          </a:p>
        </p:txBody>
      </p:sp>
      <p:sp>
        <p:nvSpPr>
          <p:cNvPr id="15" name="Text 13"/>
          <p:cNvSpPr/>
          <p:nvPr/>
        </p:nvSpPr>
        <p:spPr>
          <a:xfrm>
            <a:off x="6382512" y="3127248"/>
            <a:ext cx="2295144" cy="320040"/>
          </a:xfrm>
          <a:prstGeom prst="rect">
            <a:avLst/>
          </a:prstGeom>
          <a:noFill/>
          <a:ln/>
        </p:spPr>
        <p:txBody>
          <a:bodyPr wrap="square" rtlCol="0" anchor="ctr"/>
          <a:lstStyle/>
          <a:p>
            <a:pPr marL="0" indent="0">
              <a:buNone/>
            </a:pPr>
            <a:r>
              <a:rPr lang="en-US" sz="1250" b="1" dirty="0">
                <a:solidFill>
                  <a:srgbClr val="2A1338"/>
                </a:solidFill>
                <a:latin typeface="Calibri" pitchFamily="34" charset="0"/>
                <a:ea typeface="Calibri" pitchFamily="34" charset="-122"/>
                <a:cs typeface="Calibri" pitchFamily="34" charset="-120"/>
              </a:rPr>
              <a:t>Questions answered</a:t>
            </a:r>
            <a:endParaRPr lang="en-US" sz="1250" dirty="0"/>
          </a:p>
        </p:txBody>
      </p:sp>
      <p:sp>
        <p:nvSpPr>
          <p:cNvPr id="16" name="Text 14"/>
          <p:cNvSpPr/>
          <p:nvPr/>
        </p:nvSpPr>
        <p:spPr>
          <a:xfrm>
            <a:off x="6382512" y="3456432"/>
            <a:ext cx="2295144" cy="1097280"/>
          </a:xfrm>
          <a:prstGeom prst="rect">
            <a:avLst/>
          </a:prstGeom>
          <a:noFill/>
          <a:ln/>
        </p:spPr>
        <p:txBody>
          <a:bodyPr wrap="square" rtlCol="0" anchor="ctr"/>
          <a:lstStyle/>
          <a:p>
            <a:pPr marL="0" indent="0">
              <a:lnSpc>
                <a:spcPts val="1300"/>
              </a:lnSpc>
              <a:buNone/>
            </a:pPr>
            <a:r>
              <a:rPr lang="en-US" sz="1000" dirty="0">
                <a:solidFill>
                  <a:srgbClr val="6B5878"/>
                </a:solidFill>
                <a:latin typeface="Calibri" pitchFamily="34" charset="0"/>
                <a:ea typeface="Calibri" pitchFamily="34" charset="-122"/>
                <a:cs typeface="Calibri" pitchFamily="34" charset="-120"/>
              </a:rPr>
              <a:t>Every business question in the brief is answered by a specific visual, directly.</a:t>
            </a:r>
            <a:endParaRPr lang="en-US" sz="1000" dirty="0"/>
          </a:p>
        </p:txBody>
      </p:sp>
      <p:sp>
        <p:nvSpPr>
          <p:cNvPr id="17" name="Shape 15"/>
          <p:cNvSpPr/>
          <p:nvPr/>
        </p:nvSpPr>
        <p:spPr>
          <a:xfrm>
            <a:off x="8997696" y="2331720"/>
            <a:ext cx="2697480" cy="2331720"/>
          </a:xfrm>
          <a:prstGeom prst="roundRect">
            <a:avLst>
              <a:gd name="adj" fmla="val 3922"/>
            </a:avLst>
          </a:prstGeom>
          <a:solidFill>
            <a:srgbClr val="FBF9FD"/>
          </a:solidFill>
          <a:ln w="12700">
            <a:solidFill>
              <a:srgbClr val="7A3E9D"/>
            </a:solidFill>
            <a:prstDash val="solid"/>
          </a:ln>
        </p:spPr>
        <p:txBody>
          <a:bodyPr/>
          <a:lstStyle/>
          <a:p>
            <a:endParaRPr lang="en-IN"/>
          </a:p>
        </p:txBody>
      </p:sp>
      <p:sp>
        <p:nvSpPr>
          <p:cNvPr id="18" name="Text 16"/>
          <p:cNvSpPr/>
          <p:nvPr/>
        </p:nvSpPr>
        <p:spPr>
          <a:xfrm>
            <a:off x="9198864" y="2514600"/>
            <a:ext cx="2295144" cy="640080"/>
          </a:xfrm>
          <a:prstGeom prst="rect">
            <a:avLst/>
          </a:prstGeom>
          <a:noFill/>
          <a:ln/>
        </p:spPr>
        <p:txBody>
          <a:bodyPr wrap="square" rtlCol="0" anchor="ctr"/>
          <a:lstStyle/>
          <a:p>
            <a:pPr marL="0" indent="0">
              <a:buNone/>
            </a:pPr>
            <a:r>
              <a:rPr lang="en-US" sz="3000" b="1" dirty="0">
                <a:solidFill>
                  <a:srgbClr val="3B1656"/>
                </a:solidFill>
                <a:latin typeface="Cambria" pitchFamily="34" charset="0"/>
                <a:ea typeface="Cambria" pitchFamily="34" charset="-122"/>
                <a:cs typeface="Cambria" pitchFamily="34" charset="-120"/>
              </a:rPr>
              <a:t>5</a:t>
            </a:r>
            <a:endParaRPr lang="en-US" sz="3000" dirty="0"/>
          </a:p>
        </p:txBody>
      </p:sp>
      <p:sp>
        <p:nvSpPr>
          <p:cNvPr id="19" name="Text 17"/>
          <p:cNvSpPr/>
          <p:nvPr/>
        </p:nvSpPr>
        <p:spPr>
          <a:xfrm>
            <a:off x="9198864" y="3127248"/>
            <a:ext cx="2295144" cy="320040"/>
          </a:xfrm>
          <a:prstGeom prst="rect">
            <a:avLst/>
          </a:prstGeom>
          <a:noFill/>
          <a:ln/>
        </p:spPr>
        <p:txBody>
          <a:bodyPr wrap="square" rtlCol="0" anchor="ctr"/>
          <a:lstStyle/>
          <a:p>
            <a:pPr marL="0" indent="0">
              <a:buNone/>
            </a:pPr>
            <a:r>
              <a:rPr lang="en-US" sz="1250" b="1" dirty="0">
                <a:solidFill>
                  <a:srgbClr val="2A1338"/>
                </a:solidFill>
                <a:latin typeface="Calibri" pitchFamily="34" charset="0"/>
                <a:ea typeface="Calibri" pitchFamily="34" charset="-122"/>
                <a:cs typeface="Calibri" pitchFamily="34" charset="-120"/>
              </a:rPr>
              <a:t>Recommendations</a:t>
            </a:r>
            <a:endParaRPr lang="en-US" sz="1250" dirty="0"/>
          </a:p>
        </p:txBody>
      </p:sp>
      <p:sp>
        <p:nvSpPr>
          <p:cNvPr id="20" name="Text 18"/>
          <p:cNvSpPr/>
          <p:nvPr/>
        </p:nvSpPr>
        <p:spPr>
          <a:xfrm>
            <a:off x="9198864" y="3456432"/>
            <a:ext cx="2295144" cy="1097280"/>
          </a:xfrm>
          <a:prstGeom prst="rect">
            <a:avLst/>
          </a:prstGeom>
          <a:noFill/>
          <a:ln/>
        </p:spPr>
        <p:txBody>
          <a:bodyPr wrap="square" rtlCol="0" anchor="ctr"/>
          <a:lstStyle/>
          <a:p>
            <a:pPr marL="0" indent="0">
              <a:lnSpc>
                <a:spcPts val="1300"/>
              </a:lnSpc>
              <a:buNone/>
            </a:pPr>
            <a:r>
              <a:rPr lang="en-US" sz="1000" dirty="0">
                <a:solidFill>
                  <a:srgbClr val="6B5878"/>
                </a:solidFill>
                <a:latin typeface="Calibri" pitchFamily="34" charset="0"/>
                <a:ea typeface="Calibri" pitchFamily="34" charset="-122"/>
                <a:cs typeface="Calibri" pitchFamily="34" charset="-120"/>
              </a:rPr>
              <a:t>Concrete, actionable next steps handed back to the business, not just charts.</a:t>
            </a:r>
            <a:endParaRPr lang="en-US" sz="1000" dirty="0"/>
          </a:p>
        </p:txBody>
      </p:sp>
      <p:sp>
        <p:nvSpPr>
          <p:cNvPr id="21" name="Shape 19"/>
          <p:cNvSpPr/>
          <p:nvPr/>
        </p:nvSpPr>
        <p:spPr>
          <a:xfrm>
            <a:off x="548640" y="4892040"/>
            <a:ext cx="10881360" cy="1234440"/>
          </a:xfrm>
          <a:prstGeom prst="roundRect">
            <a:avLst>
              <a:gd name="adj" fmla="val 7407"/>
            </a:avLst>
          </a:prstGeom>
          <a:solidFill>
            <a:srgbClr val="3B1656"/>
          </a:solidFill>
          <a:ln/>
        </p:spPr>
        <p:txBody>
          <a:bodyPr/>
          <a:lstStyle/>
          <a:p>
            <a:endParaRPr lang="en-IN"/>
          </a:p>
        </p:txBody>
      </p:sp>
      <p:sp>
        <p:nvSpPr>
          <p:cNvPr id="22" name="Text 20"/>
          <p:cNvSpPr/>
          <p:nvPr/>
        </p:nvSpPr>
        <p:spPr>
          <a:xfrm>
            <a:off x="868680" y="5056632"/>
            <a:ext cx="10241280" cy="914400"/>
          </a:xfrm>
          <a:prstGeom prst="rect">
            <a:avLst/>
          </a:prstGeom>
          <a:noFill/>
          <a:ln/>
        </p:spPr>
        <p:txBody>
          <a:bodyPr wrap="square" rtlCol="0" anchor="ctr"/>
          <a:lstStyle/>
          <a:p>
            <a:pPr marL="0" indent="0">
              <a:lnSpc>
                <a:spcPts val="1800"/>
              </a:lnSpc>
              <a:buNone/>
            </a:pPr>
            <a:r>
              <a:rPr lang="en-US" sz="1300" i="1" dirty="0">
                <a:solidFill>
                  <a:srgbClr val="EDE0F5"/>
                </a:solidFill>
                <a:latin typeface="Calibri" pitchFamily="34" charset="0"/>
                <a:ea typeface="Calibri" pitchFamily="34" charset="-122"/>
                <a:cs typeface="Calibri" pitchFamily="34" charset="-120"/>
              </a:rPr>
              <a:t>The bigger picture: this dashboard doesn't just report numbers — it gives ShopSphere a way to catch problems early (like the September dip), double down on what's working (top categories, delivery speed), and make faster, evidence-based decisions going forward.</a:t>
            </a:r>
            <a:endParaRPr lang="en-US" sz="1300" dirty="0"/>
          </a:p>
        </p:txBody>
      </p:sp>
      <p:sp>
        <p:nvSpPr>
          <p:cNvPr id="24" name="Text 21"/>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5878"/>
                </a:solidFill>
                <a:latin typeface="Calibri" pitchFamily="34" charset="0"/>
                <a:ea typeface="Calibri" pitchFamily="34" charset="-122"/>
                <a:cs typeface="Calibri" pitchFamily="34" charset="-120"/>
              </a:rPr>
              <a:t>13</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B1656"/>
        </a:solidFill>
        <a:effectLst/>
      </p:bgPr>
    </p:bg>
    <p:spTree>
      <p:nvGrpSpPr>
        <p:cNvPr id="1" name=""/>
        <p:cNvGrpSpPr/>
        <p:nvPr/>
      </p:nvGrpSpPr>
      <p:grpSpPr>
        <a:xfrm>
          <a:off x="0" y="0"/>
          <a:ext cx="0" cy="0"/>
          <a:chOff x="0" y="0"/>
          <a:chExt cx="0" cy="0"/>
        </a:xfrm>
      </p:grpSpPr>
      <p:sp>
        <p:nvSpPr>
          <p:cNvPr id="4" name="Text 2"/>
          <p:cNvSpPr/>
          <p:nvPr/>
        </p:nvSpPr>
        <p:spPr>
          <a:xfrm>
            <a:off x="822960" y="2377440"/>
            <a:ext cx="82296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p:nvPr/>
        </p:nvSpPr>
        <p:spPr>
          <a:xfrm>
            <a:off x="868680" y="3291840"/>
            <a:ext cx="7315200" cy="457200"/>
          </a:xfrm>
          <a:prstGeom prst="rect">
            <a:avLst/>
          </a:prstGeom>
          <a:noFill/>
          <a:ln/>
        </p:spPr>
        <p:txBody>
          <a:bodyPr wrap="square" rtlCol="0" anchor="ctr"/>
          <a:lstStyle/>
          <a:p>
            <a:pPr marL="0" indent="0">
              <a:buNone/>
            </a:pPr>
            <a:r>
              <a:rPr lang="en-US" sz="1600" dirty="0">
                <a:solidFill>
                  <a:srgbClr val="F0A93A"/>
                </a:solidFill>
                <a:latin typeface="Calibri" pitchFamily="34" charset="0"/>
                <a:ea typeface="Calibri" pitchFamily="34" charset="-122"/>
                <a:cs typeface="Calibri" pitchFamily="34" charset="-120"/>
              </a:rPr>
              <a:t>Questions &amp; Discussion</a:t>
            </a:r>
            <a:endParaRPr lang="en-US" sz="1600" dirty="0"/>
          </a:p>
        </p:txBody>
      </p:sp>
      <p:sp>
        <p:nvSpPr>
          <p:cNvPr id="6" name="Shape 4"/>
          <p:cNvSpPr/>
          <p:nvPr/>
        </p:nvSpPr>
        <p:spPr>
          <a:xfrm>
            <a:off x="868680" y="4114800"/>
            <a:ext cx="4114800" cy="0"/>
          </a:xfrm>
          <a:prstGeom prst="line">
            <a:avLst/>
          </a:prstGeom>
          <a:noFill/>
          <a:ln w="12700">
            <a:solidFill>
              <a:srgbClr val="6B4A82"/>
            </a:solidFill>
            <a:prstDash val="solid"/>
          </a:ln>
        </p:spPr>
        <p:txBody>
          <a:bodyPr/>
          <a:lstStyle/>
          <a:p>
            <a:endParaRPr lang="en-IN"/>
          </a:p>
        </p:txBody>
      </p:sp>
      <p:sp>
        <p:nvSpPr>
          <p:cNvPr id="7" name="Text 5"/>
          <p:cNvSpPr/>
          <p:nvPr/>
        </p:nvSpPr>
        <p:spPr>
          <a:xfrm>
            <a:off x="868680" y="4297680"/>
            <a:ext cx="457200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Prakruthi B R</a:t>
            </a:r>
            <a:endParaRPr lang="en-US" sz="1800" dirty="0"/>
          </a:p>
        </p:txBody>
      </p:sp>
      <p:sp>
        <p:nvSpPr>
          <p:cNvPr id="8" name="Text 6"/>
          <p:cNvSpPr/>
          <p:nvPr/>
        </p:nvSpPr>
        <p:spPr>
          <a:xfrm>
            <a:off x="868680" y="4663440"/>
            <a:ext cx="7315200" cy="640080"/>
          </a:xfrm>
          <a:prstGeom prst="rect">
            <a:avLst/>
          </a:prstGeom>
          <a:noFill/>
          <a:ln/>
        </p:spPr>
        <p:txBody>
          <a:bodyPr wrap="square" rtlCol="0" anchor="ctr"/>
          <a:lstStyle/>
          <a:p>
            <a:pPr marL="0" indent="0">
              <a:lnSpc>
                <a:spcPts val="1800"/>
              </a:lnSpc>
              <a:buNone/>
            </a:pPr>
            <a:r>
              <a:rPr lang="en-US" sz="1250" dirty="0">
                <a:solidFill>
                  <a:srgbClr val="D9C7E8"/>
                </a:solidFill>
                <a:latin typeface="Calibri" pitchFamily="34" charset="0"/>
                <a:ea typeface="Calibri" pitchFamily="34" charset="-122"/>
                <a:cs typeface="Calibri" pitchFamily="34" charset="-120"/>
              </a:rPr>
              <a:t>Reg No: 2411021240038  |  Data Analyst</a:t>
            </a:r>
            <a:endParaRPr lang="en-US" sz="1250" dirty="0"/>
          </a:p>
          <a:p>
            <a:pPr marL="0" indent="0">
              <a:lnSpc>
                <a:spcPts val="1800"/>
              </a:lnSpc>
              <a:buNone/>
            </a:pPr>
            <a:r>
              <a:rPr lang="en-US" sz="1250" dirty="0">
                <a:solidFill>
                  <a:srgbClr val="D9C7E8"/>
                </a:solidFill>
                <a:latin typeface="Calibri" pitchFamily="34" charset="0"/>
                <a:ea typeface="Calibri" pitchFamily="34" charset="-122"/>
                <a:cs typeface="Calibri" pitchFamily="34" charset="-120"/>
              </a:rPr>
              <a:t>Project: E-Commerce Business Analytics Dashboard — ShopSphere Online</a:t>
            </a:r>
            <a:endParaRPr lang="en-US" sz="1250" dirty="0"/>
          </a:p>
        </p:txBody>
      </p:sp>
      <p:sp>
        <p:nvSpPr>
          <p:cNvPr id="10" name="Text 7"/>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587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2947</Words>
  <Application>Microsoft Office PowerPoint</Application>
  <PresentationFormat>Widescreen</PresentationFormat>
  <Paragraphs>282</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Prakruthi Devanga</cp:lastModifiedBy>
  <cp:revision>3</cp:revision>
  <dcterms:created xsi:type="dcterms:W3CDTF">2026-07-10T02:18:06Z</dcterms:created>
  <dcterms:modified xsi:type="dcterms:W3CDTF">2026-07-10T05:35:06Z</dcterms:modified>
</cp:coreProperties>
</file>